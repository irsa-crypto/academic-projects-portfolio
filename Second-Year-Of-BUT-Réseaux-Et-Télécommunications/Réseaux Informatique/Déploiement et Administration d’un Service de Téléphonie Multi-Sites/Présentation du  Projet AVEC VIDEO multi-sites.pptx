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8288000" cy="10287000"/>
  <p:notesSz cx="6858000" cy="9144000"/>
  <p:embeddedFontLst>
    <p:embeddedFont>
      <p:font typeface="Gagalin" charset="1" panose="00000500000000000000"/>
      <p:regular r:id="rId53"/>
    </p:embeddedFont>
    <p:embeddedFont>
      <p:font typeface="Poppins" charset="1" panose="00000500000000000000"/>
      <p:regular r:id="rId54"/>
    </p:embeddedFont>
    <p:embeddedFont>
      <p:font typeface="Poppins Bold" charset="1" panose="0000080000000000000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8.png" Type="http://schemas.openxmlformats.org/officeDocument/2006/relationships/image"/><Relationship Id="rId2" Target="../media/image13.jpeg" Type="http://schemas.openxmlformats.org/officeDocument/2006/relationships/image"/><Relationship Id="rId3" Target="../media/image5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6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21.png" Type="http://schemas.openxmlformats.org/officeDocument/2006/relationships/image"/><Relationship Id="rId7" Target="../media/image30.jpe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5.png" Type="http://schemas.openxmlformats.org/officeDocument/2006/relationships/image"/><Relationship Id="rId4" Target="../media/image15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2.jpeg" Type="http://schemas.openxmlformats.org/officeDocument/2006/relationships/image"/><Relationship Id="rId4" Target="../media/VAGgzn6X6DM.mp4" Type="http://schemas.openxmlformats.org/officeDocument/2006/relationships/video"/><Relationship Id="rId5" Target="../media/VAGgzn6X6DM.mp4" Type="http://schemas.microsoft.com/office/2007/relationships/media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6.jpeg" Type="http://schemas.openxmlformats.org/officeDocument/2006/relationships/image"/><Relationship Id="rId4" Target="../media/VAGgzvMD-1Q.mp4" Type="http://schemas.openxmlformats.org/officeDocument/2006/relationships/video"/><Relationship Id="rId5" Target="../media/VAGgzvMD-1Q.mp4" Type="http://schemas.microsoft.com/office/2007/relationships/media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2.png" Type="http://schemas.openxmlformats.org/officeDocument/2006/relationships/image"/><Relationship Id="rId4" Target="../media/image56.jpeg" Type="http://schemas.openxmlformats.org/officeDocument/2006/relationships/image"/><Relationship Id="rId5" Target="../media/VAGg2LYUyns.mp4" Type="http://schemas.openxmlformats.org/officeDocument/2006/relationships/video"/><Relationship Id="rId6" Target="../media/VAGg2LYUyns.mp4" Type="http://schemas.microsoft.com/office/2007/relationships/media"/><Relationship Id="rId7" Target="../media/image5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6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6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6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68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12160" y="197554"/>
            <a:ext cx="3384202" cy="1205622"/>
          </a:xfrm>
          <a:custGeom>
            <a:avLst/>
            <a:gdLst/>
            <a:ahLst/>
            <a:cxnLst/>
            <a:rect r="r" b="b" t="t" l="l"/>
            <a:pathLst>
              <a:path h="1205622" w="3384202">
                <a:moveTo>
                  <a:pt x="0" y="0"/>
                </a:moveTo>
                <a:lnTo>
                  <a:pt x="3384201" y="0"/>
                </a:lnTo>
                <a:lnTo>
                  <a:pt x="3384201" y="1205622"/>
                </a:lnTo>
                <a:lnTo>
                  <a:pt x="0" y="1205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7009" y="4559195"/>
            <a:ext cx="3273788" cy="3273788"/>
          </a:xfrm>
          <a:custGeom>
            <a:avLst/>
            <a:gdLst/>
            <a:ahLst/>
            <a:cxnLst/>
            <a:rect r="r" b="b" t="t" l="l"/>
            <a:pathLst>
              <a:path h="3273788" w="3273788">
                <a:moveTo>
                  <a:pt x="0" y="0"/>
                </a:moveTo>
                <a:lnTo>
                  <a:pt x="3273788" y="0"/>
                </a:lnTo>
                <a:lnTo>
                  <a:pt x="3273788" y="3273788"/>
                </a:lnTo>
                <a:lnTo>
                  <a:pt x="0" y="3273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454" t="-16945" r="-69094" b="-225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13838" y="4720318"/>
            <a:ext cx="5494981" cy="3661031"/>
          </a:xfrm>
          <a:custGeom>
            <a:avLst/>
            <a:gdLst/>
            <a:ahLst/>
            <a:cxnLst/>
            <a:rect r="r" b="b" t="t" l="l"/>
            <a:pathLst>
              <a:path h="3661031" w="5494981">
                <a:moveTo>
                  <a:pt x="0" y="0"/>
                </a:moveTo>
                <a:lnTo>
                  <a:pt x="5494981" y="0"/>
                </a:lnTo>
                <a:lnTo>
                  <a:pt x="5494981" y="3661031"/>
                </a:lnTo>
                <a:lnTo>
                  <a:pt x="0" y="366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595727"/>
            <a:ext cx="16954066" cy="312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78"/>
              </a:lnSpc>
            </a:pPr>
            <a:r>
              <a:rPr lang="en-US" sz="8984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DÉPLOIEMENT D’UN SERVICE DE TÉLÉPHONIE MULTI-SITES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7009" y="8648479"/>
            <a:ext cx="7088425" cy="120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Présenté par : </a:t>
            </a:r>
          </a:p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Ahmad Irsa &amp; Banoho Thierry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671680" y="5143500"/>
            <a:ext cx="4632580" cy="2449477"/>
          </a:xfrm>
          <a:custGeom>
            <a:avLst/>
            <a:gdLst/>
            <a:ahLst/>
            <a:cxnLst/>
            <a:rect r="r" b="b" t="t" l="l"/>
            <a:pathLst>
              <a:path h="2449477" w="4632580">
                <a:moveTo>
                  <a:pt x="0" y="0"/>
                </a:moveTo>
                <a:lnTo>
                  <a:pt x="4632580" y="0"/>
                </a:lnTo>
                <a:lnTo>
                  <a:pt x="4632580" y="2449477"/>
                </a:lnTo>
                <a:lnTo>
                  <a:pt x="0" y="24494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8506" y="2028365"/>
            <a:ext cx="16183372" cy="7545740"/>
            <a:chOff x="0" y="0"/>
            <a:chExt cx="5235475" cy="24411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35475" cy="2441119"/>
            </a:xfrm>
            <a:custGeom>
              <a:avLst/>
              <a:gdLst/>
              <a:ahLst/>
              <a:cxnLst/>
              <a:rect r="r" b="b" t="t" l="l"/>
              <a:pathLst>
                <a:path h="2441119" w="5235475">
                  <a:moveTo>
                    <a:pt x="24398" y="0"/>
                  </a:moveTo>
                  <a:lnTo>
                    <a:pt x="5211078" y="0"/>
                  </a:lnTo>
                  <a:cubicBezTo>
                    <a:pt x="5224552" y="0"/>
                    <a:pt x="5235475" y="10923"/>
                    <a:pt x="5235475" y="24398"/>
                  </a:cubicBezTo>
                  <a:lnTo>
                    <a:pt x="5235475" y="2416721"/>
                  </a:lnTo>
                  <a:cubicBezTo>
                    <a:pt x="5235475" y="2430196"/>
                    <a:pt x="5224552" y="2441119"/>
                    <a:pt x="5211078" y="2441119"/>
                  </a:cubicBezTo>
                  <a:lnTo>
                    <a:pt x="24398" y="2441119"/>
                  </a:lnTo>
                  <a:cubicBezTo>
                    <a:pt x="10923" y="2441119"/>
                    <a:pt x="0" y="2430196"/>
                    <a:pt x="0" y="2416721"/>
                  </a:cubicBezTo>
                  <a:lnTo>
                    <a:pt x="0" y="24398"/>
                  </a:lnTo>
                  <a:cubicBezTo>
                    <a:pt x="0" y="10923"/>
                    <a:pt x="10923" y="0"/>
                    <a:pt x="2439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235475" cy="2498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13645" y="2359511"/>
            <a:ext cx="15060710" cy="6513757"/>
          </a:xfrm>
          <a:custGeom>
            <a:avLst/>
            <a:gdLst/>
            <a:ahLst/>
            <a:cxnLst/>
            <a:rect r="r" b="b" t="t" l="l"/>
            <a:pathLst>
              <a:path h="6513757" w="15060710">
                <a:moveTo>
                  <a:pt x="0" y="0"/>
                </a:moveTo>
                <a:lnTo>
                  <a:pt x="15060710" y="0"/>
                </a:lnTo>
                <a:lnTo>
                  <a:pt x="15060710" y="6513757"/>
                </a:lnTo>
                <a:lnTo>
                  <a:pt x="0" y="6513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4490" y="614735"/>
            <a:ext cx="11505960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5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ARCHITECTURE MIS EN PLACE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953" y="3947381"/>
            <a:ext cx="9910394" cy="2392238"/>
          </a:xfrm>
          <a:custGeom>
            <a:avLst/>
            <a:gdLst/>
            <a:ahLst/>
            <a:cxnLst/>
            <a:rect r="r" b="b" t="t" l="l"/>
            <a:pathLst>
              <a:path h="2392238" w="9910394">
                <a:moveTo>
                  <a:pt x="0" y="0"/>
                </a:moveTo>
                <a:lnTo>
                  <a:pt x="9910394" y="0"/>
                </a:lnTo>
                <a:lnTo>
                  <a:pt x="9910394" y="2392238"/>
                </a:lnTo>
                <a:lnTo>
                  <a:pt x="0" y="2392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40420" y="4495337"/>
            <a:ext cx="5207159" cy="101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6"/>
              </a:lnSpc>
            </a:pPr>
            <a:r>
              <a:rPr lang="en-US" sz="677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53322" y="2507461"/>
            <a:ext cx="10920397" cy="2636039"/>
          </a:xfrm>
          <a:custGeom>
            <a:avLst/>
            <a:gdLst/>
            <a:ahLst/>
            <a:cxnLst/>
            <a:rect r="r" b="b" t="t" l="l"/>
            <a:pathLst>
              <a:path h="2636039" w="10920397">
                <a:moveTo>
                  <a:pt x="0" y="0"/>
                </a:moveTo>
                <a:lnTo>
                  <a:pt x="10920398" y="0"/>
                </a:lnTo>
                <a:lnTo>
                  <a:pt x="10920398" y="2636039"/>
                </a:lnTo>
                <a:lnTo>
                  <a:pt x="0" y="26360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6556" y="627105"/>
            <a:ext cx="10558345" cy="105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COMMUNICATION ANCIENNE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953322" y="5143500"/>
            <a:ext cx="10920397" cy="2636039"/>
          </a:xfrm>
          <a:custGeom>
            <a:avLst/>
            <a:gdLst/>
            <a:ahLst/>
            <a:cxnLst/>
            <a:rect r="r" b="b" t="t" l="l"/>
            <a:pathLst>
              <a:path h="2636039" w="10920397">
                <a:moveTo>
                  <a:pt x="0" y="0"/>
                </a:moveTo>
                <a:lnTo>
                  <a:pt x="10920398" y="0"/>
                </a:lnTo>
                <a:lnTo>
                  <a:pt x="10920398" y="2636039"/>
                </a:lnTo>
                <a:lnTo>
                  <a:pt x="0" y="26360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21142" y="2834054"/>
            <a:ext cx="9848001" cy="147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Un site = Un réseau téléphonique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Lignes téléphoniques classiques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Standards téléphoniques physiques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Interconnexions manuelles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21142" y="5315007"/>
            <a:ext cx="9848001" cy="195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Coût élevé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Manque de flexibilité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Maintenance lourde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Sécurité insuffisante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520" y="5835816"/>
            <a:ext cx="9848001" cy="4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Gagalin"/>
                <a:ea typeface="Gagalin"/>
                <a:cs typeface="Gagalin"/>
                <a:sym typeface="Gagalin"/>
              </a:rPr>
              <a:t>LIMITES 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19999" y="3260725"/>
            <a:ext cx="9848001" cy="4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Gagalin"/>
                <a:ea typeface="Gagalin"/>
                <a:cs typeface="Gagalin"/>
                <a:sym typeface="Gagalin"/>
              </a:rP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1707" y="2692381"/>
            <a:ext cx="14787593" cy="2233223"/>
            <a:chOff x="0" y="0"/>
            <a:chExt cx="4783928" cy="7224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83927" cy="722469"/>
            </a:xfrm>
            <a:custGeom>
              <a:avLst/>
              <a:gdLst/>
              <a:ahLst/>
              <a:cxnLst/>
              <a:rect r="r" b="b" t="t" l="l"/>
              <a:pathLst>
                <a:path h="722469" w="4783927">
                  <a:moveTo>
                    <a:pt x="26701" y="0"/>
                  </a:moveTo>
                  <a:lnTo>
                    <a:pt x="4757227" y="0"/>
                  </a:lnTo>
                  <a:cubicBezTo>
                    <a:pt x="4764308" y="0"/>
                    <a:pt x="4771099" y="2813"/>
                    <a:pt x="4776107" y="7820"/>
                  </a:cubicBezTo>
                  <a:cubicBezTo>
                    <a:pt x="4781114" y="12828"/>
                    <a:pt x="4783927" y="19619"/>
                    <a:pt x="4783927" y="26701"/>
                  </a:cubicBezTo>
                  <a:lnTo>
                    <a:pt x="4783927" y="695768"/>
                  </a:lnTo>
                  <a:cubicBezTo>
                    <a:pt x="4783927" y="702850"/>
                    <a:pt x="4781114" y="709641"/>
                    <a:pt x="4776107" y="714649"/>
                  </a:cubicBezTo>
                  <a:cubicBezTo>
                    <a:pt x="4771099" y="719656"/>
                    <a:pt x="4764308" y="722469"/>
                    <a:pt x="4757227" y="722469"/>
                  </a:cubicBezTo>
                  <a:lnTo>
                    <a:pt x="26701" y="722469"/>
                  </a:lnTo>
                  <a:cubicBezTo>
                    <a:pt x="19619" y="722469"/>
                    <a:pt x="12828" y="719656"/>
                    <a:pt x="7820" y="714649"/>
                  </a:cubicBezTo>
                  <a:cubicBezTo>
                    <a:pt x="2813" y="709641"/>
                    <a:pt x="0" y="702850"/>
                    <a:pt x="0" y="695768"/>
                  </a:cubicBezTo>
                  <a:lnTo>
                    <a:pt x="0" y="26701"/>
                  </a:lnTo>
                  <a:cubicBezTo>
                    <a:pt x="0" y="19619"/>
                    <a:pt x="2813" y="12828"/>
                    <a:pt x="7820" y="7820"/>
                  </a:cubicBezTo>
                  <a:cubicBezTo>
                    <a:pt x="12828" y="2813"/>
                    <a:pt x="19619" y="0"/>
                    <a:pt x="2670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783928" cy="779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0792" y="553287"/>
            <a:ext cx="6669906" cy="1709899"/>
          </a:xfrm>
          <a:custGeom>
            <a:avLst/>
            <a:gdLst/>
            <a:ahLst/>
            <a:cxnLst/>
            <a:rect r="r" b="b" t="t" l="l"/>
            <a:pathLst>
              <a:path h="1709899" w="6669906">
                <a:moveTo>
                  <a:pt x="0" y="0"/>
                </a:moveTo>
                <a:lnTo>
                  <a:pt x="6669906" y="0"/>
                </a:lnTo>
                <a:lnTo>
                  <a:pt x="6669906" y="1709899"/>
                </a:lnTo>
                <a:lnTo>
                  <a:pt x="0" y="1709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3000"/>
            </a:blip>
            <a:stretch>
              <a:fillRect l="-64375" t="-186719" r="-9504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03049" y="3315952"/>
            <a:ext cx="14124909" cy="147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Mise en place d’une solution de communication centralisée permettant de gérer les appels et les services téléphoniques sur plusieurs sites géographiques de manière fluide et efficace.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71707" y="5450997"/>
            <a:ext cx="6526409" cy="1582048"/>
            <a:chOff x="0" y="0"/>
            <a:chExt cx="2111355" cy="511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1355" cy="511808"/>
            </a:xfrm>
            <a:custGeom>
              <a:avLst/>
              <a:gdLst/>
              <a:ahLst/>
              <a:cxnLst/>
              <a:rect r="r" b="b" t="t" l="l"/>
              <a:pathLst>
                <a:path h="511808" w="2111355">
                  <a:moveTo>
                    <a:pt x="60498" y="0"/>
                  </a:moveTo>
                  <a:lnTo>
                    <a:pt x="2050857" y="0"/>
                  </a:lnTo>
                  <a:cubicBezTo>
                    <a:pt x="2084269" y="0"/>
                    <a:pt x="2111355" y="27086"/>
                    <a:pt x="2111355" y="60498"/>
                  </a:cubicBezTo>
                  <a:lnTo>
                    <a:pt x="2111355" y="451309"/>
                  </a:lnTo>
                  <a:cubicBezTo>
                    <a:pt x="2111355" y="467354"/>
                    <a:pt x="2104982" y="482742"/>
                    <a:pt x="2093636" y="494088"/>
                  </a:cubicBezTo>
                  <a:cubicBezTo>
                    <a:pt x="2082290" y="505434"/>
                    <a:pt x="2066902" y="511808"/>
                    <a:pt x="2050857" y="511808"/>
                  </a:cubicBezTo>
                  <a:lnTo>
                    <a:pt x="60498" y="511808"/>
                  </a:lnTo>
                  <a:cubicBezTo>
                    <a:pt x="27086" y="511808"/>
                    <a:pt x="0" y="484722"/>
                    <a:pt x="0" y="451309"/>
                  </a:cubicBezTo>
                  <a:lnTo>
                    <a:pt x="0" y="60498"/>
                  </a:lnTo>
                  <a:cubicBezTo>
                    <a:pt x="0" y="27086"/>
                    <a:pt x="27086" y="0"/>
                    <a:pt x="6049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11355" cy="568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25296" y="5690130"/>
            <a:ext cx="5818704" cy="4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Gagalin"/>
                <a:ea typeface="Gagalin"/>
                <a:cs typeface="Gagalin"/>
                <a:sym typeface="Gagalin"/>
              </a:rPr>
              <a:t>Téléphonie Cloud 3CX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142274" y="5361497"/>
            <a:ext cx="6526409" cy="1671548"/>
            <a:chOff x="0" y="0"/>
            <a:chExt cx="2111355" cy="5407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1355" cy="540762"/>
            </a:xfrm>
            <a:custGeom>
              <a:avLst/>
              <a:gdLst/>
              <a:ahLst/>
              <a:cxnLst/>
              <a:rect r="r" b="b" t="t" l="l"/>
              <a:pathLst>
                <a:path h="540762" w="2111355">
                  <a:moveTo>
                    <a:pt x="60498" y="0"/>
                  </a:moveTo>
                  <a:lnTo>
                    <a:pt x="2050857" y="0"/>
                  </a:lnTo>
                  <a:cubicBezTo>
                    <a:pt x="2084269" y="0"/>
                    <a:pt x="2111355" y="27086"/>
                    <a:pt x="2111355" y="60498"/>
                  </a:cubicBezTo>
                  <a:lnTo>
                    <a:pt x="2111355" y="480263"/>
                  </a:lnTo>
                  <a:cubicBezTo>
                    <a:pt x="2111355" y="513676"/>
                    <a:pt x="2084269" y="540762"/>
                    <a:pt x="2050857" y="540762"/>
                  </a:cubicBezTo>
                  <a:lnTo>
                    <a:pt x="60498" y="540762"/>
                  </a:lnTo>
                  <a:cubicBezTo>
                    <a:pt x="27086" y="540762"/>
                    <a:pt x="0" y="513676"/>
                    <a:pt x="0" y="480263"/>
                  </a:cubicBezTo>
                  <a:lnTo>
                    <a:pt x="0" y="60498"/>
                  </a:lnTo>
                  <a:cubicBezTo>
                    <a:pt x="0" y="27086"/>
                    <a:pt x="27086" y="0"/>
                    <a:pt x="6049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111355" cy="597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639832" y="5690130"/>
            <a:ext cx="5796194" cy="4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Gagalin"/>
                <a:ea typeface="Gagalin"/>
                <a:cs typeface="Gagalin"/>
                <a:sym typeface="Gagalin"/>
              </a:rPr>
              <a:t>Pare-feu Stormshield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25559" y="6188496"/>
            <a:ext cx="5818704" cy="50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Gestion centralisée des appels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76840" y="2852621"/>
            <a:ext cx="9330869" cy="4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Gagalin"/>
                <a:ea typeface="Gagalin"/>
                <a:cs typeface="Gagalin"/>
                <a:sym typeface="Gagalin"/>
              </a:rPr>
              <a:t>Déploiement d’un service de téléphonie multi-site: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63106" y="6156296"/>
            <a:ext cx="5796194" cy="50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Sécurisation de trafic 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549114" y="1277636"/>
            <a:ext cx="647043" cy="803326"/>
          </a:xfrm>
          <a:custGeom>
            <a:avLst/>
            <a:gdLst/>
            <a:ahLst/>
            <a:cxnLst/>
            <a:rect r="r" b="b" t="t" l="l"/>
            <a:pathLst>
              <a:path h="803326" w="647043">
                <a:moveTo>
                  <a:pt x="0" y="0"/>
                </a:moveTo>
                <a:lnTo>
                  <a:pt x="647043" y="0"/>
                </a:lnTo>
                <a:lnTo>
                  <a:pt x="647043" y="803326"/>
                </a:lnTo>
                <a:lnTo>
                  <a:pt x="0" y="803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6556" y="627105"/>
            <a:ext cx="10558345" cy="105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OBJECTIFS CLÉS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746556" y="1679299"/>
            <a:ext cx="5488091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8769" y="1727067"/>
            <a:ext cx="16064506" cy="12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6"/>
              </a:lnSpc>
            </a:pPr>
            <a:r>
              <a:rPr lang="en-US" sz="69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INSTALLATION ET FONCTIONNALITÉS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169265"/>
            <a:ext cx="7798382" cy="4095121"/>
            <a:chOff x="0" y="0"/>
            <a:chExt cx="2522851" cy="13248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2851" cy="1324811"/>
            </a:xfrm>
            <a:custGeom>
              <a:avLst/>
              <a:gdLst/>
              <a:ahLst/>
              <a:cxnLst/>
              <a:rect r="r" b="b" t="t" l="l"/>
              <a:pathLst>
                <a:path h="1324811" w="2522851">
                  <a:moveTo>
                    <a:pt x="50631" y="0"/>
                  </a:moveTo>
                  <a:lnTo>
                    <a:pt x="2472220" y="0"/>
                  </a:lnTo>
                  <a:cubicBezTo>
                    <a:pt x="2485648" y="0"/>
                    <a:pt x="2498527" y="5334"/>
                    <a:pt x="2508022" y="14829"/>
                  </a:cubicBezTo>
                  <a:cubicBezTo>
                    <a:pt x="2517517" y="24325"/>
                    <a:pt x="2522851" y="37203"/>
                    <a:pt x="2522851" y="50631"/>
                  </a:cubicBezTo>
                  <a:lnTo>
                    <a:pt x="2522851" y="1274180"/>
                  </a:lnTo>
                  <a:cubicBezTo>
                    <a:pt x="2522851" y="1287608"/>
                    <a:pt x="2517517" y="1300486"/>
                    <a:pt x="2508022" y="1309981"/>
                  </a:cubicBezTo>
                  <a:cubicBezTo>
                    <a:pt x="2498527" y="1319477"/>
                    <a:pt x="2485648" y="1324811"/>
                    <a:pt x="2472220" y="1324811"/>
                  </a:cubicBezTo>
                  <a:lnTo>
                    <a:pt x="50631" y="1324811"/>
                  </a:lnTo>
                  <a:cubicBezTo>
                    <a:pt x="37203" y="1324811"/>
                    <a:pt x="24325" y="1319477"/>
                    <a:pt x="14829" y="1309981"/>
                  </a:cubicBezTo>
                  <a:cubicBezTo>
                    <a:pt x="5334" y="1300486"/>
                    <a:pt x="0" y="1287608"/>
                    <a:pt x="0" y="1274180"/>
                  </a:cubicBezTo>
                  <a:lnTo>
                    <a:pt x="0" y="50631"/>
                  </a:lnTo>
                  <a:cubicBezTo>
                    <a:pt x="0" y="37203"/>
                    <a:pt x="5334" y="24325"/>
                    <a:pt x="14829" y="14829"/>
                  </a:cubicBezTo>
                  <a:cubicBezTo>
                    <a:pt x="24325" y="5334"/>
                    <a:pt x="37203" y="0"/>
                    <a:pt x="5063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522851" cy="1381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38769" y="4687754"/>
            <a:ext cx="7249670" cy="296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1.  Installation de 3CX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1.1.  </a:t>
            </a: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Création du compte 3CX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1.2. Lancement de VMware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1.3. Installation de poste 3CX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71022" y="4169265"/>
            <a:ext cx="7888278" cy="4095121"/>
            <a:chOff x="0" y="0"/>
            <a:chExt cx="2551933" cy="13248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1933" cy="1324811"/>
            </a:xfrm>
            <a:custGeom>
              <a:avLst/>
              <a:gdLst/>
              <a:ahLst/>
              <a:cxnLst/>
              <a:rect r="r" b="b" t="t" l="l"/>
              <a:pathLst>
                <a:path h="1324811" w="2551933">
                  <a:moveTo>
                    <a:pt x="50054" y="0"/>
                  </a:moveTo>
                  <a:lnTo>
                    <a:pt x="2501879" y="0"/>
                  </a:lnTo>
                  <a:cubicBezTo>
                    <a:pt x="2529523" y="0"/>
                    <a:pt x="2551933" y="22410"/>
                    <a:pt x="2551933" y="50054"/>
                  </a:cubicBezTo>
                  <a:lnTo>
                    <a:pt x="2551933" y="1274757"/>
                  </a:lnTo>
                  <a:cubicBezTo>
                    <a:pt x="2551933" y="1288032"/>
                    <a:pt x="2546660" y="1300764"/>
                    <a:pt x="2537273" y="1310150"/>
                  </a:cubicBezTo>
                  <a:cubicBezTo>
                    <a:pt x="2527886" y="1319537"/>
                    <a:pt x="2515154" y="1324811"/>
                    <a:pt x="2501879" y="1324811"/>
                  </a:cubicBezTo>
                  <a:lnTo>
                    <a:pt x="50054" y="1324811"/>
                  </a:lnTo>
                  <a:cubicBezTo>
                    <a:pt x="22410" y="1324811"/>
                    <a:pt x="0" y="1302401"/>
                    <a:pt x="0" y="1274757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1933" cy="1381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4091" y="4687754"/>
            <a:ext cx="7938008" cy="355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Mise en œuvre de 3CX  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2.1. Création d’utilisateurs 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2.2. Connection avec un softphone 2.3. Utilisation du Web Client</a:t>
            </a:r>
          </a:p>
          <a:p>
            <a:pPr algn="l">
              <a:lnSpc>
                <a:spcPts val="469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8769" y="1727067"/>
            <a:ext cx="9749038" cy="12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6"/>
              </a:lnSpc>
            </a:pPr>
            <a:r>
              <a:rPr lang="en-US" sz="69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CONFIGURATION 3CX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169265"/>
            <a:ext cx="7798382" cy="4572580"/>
            <a:chOff x="0" y="0"/>
            <a:chExt cx="2522851" cy="147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2851" cy="1479273"/>
            </a:xfrm>
            <a:custGeom>
              <a:avLst/>
              <a:gdLst/>
              <a:ahLst/>
              <a:cxnLst/>
              <a:rect r="r" b="b" t="t" l="l"/>
              <a:pathLst>
                <a:path h="1479273" w="2522851">
                  <a:moveTo>
                    <a:pt x="50631" y="0"/>
                  </a:moveTo>
                  <a:lnTo>
                    <a:pt x="2472220" y="0"/>
                  </a:lnTo>
                  <a:cubicBezTo>
                    <a:pt x="2485648" y="0"/>
                    <a:pt x="2498527" y="5334"/>
                    <a:pt x="2508022" y="14829"/>
                  </a:cubicBezTo>
                  <a:cubicBezTo>
                    <a:pt x="2517517" y="24325"/>
                    <a:pt x="2522851" y="37203"/>
                    <a:pt x="2522851" y="50631"/>
                  </a:cubicBezTo>
                  <a:lnTo>
                    <a:pt x="2522851" y="1428642"/>
                  </a:lnTo>
                  <a:cubicBezTo>
                    <a:pt x="2522851" y="1442071"/>
                    <a:pt x="2517517" y="1454949"/>
                    <a:pt x="2508022" y="1464444"/>
                  </a:cubicBezTo>
                  <a:cubicBezTo>
                    <a:pt x="2498527" y="1473939"/>
                    <a:pt x="2485648" y="1479273"/>
                    <a:pt x="2472220" y="1479273"/>
                  </a:cubicBezTo>
                  <a:lnTo>
                    <a:pt x="50631" y="1479273"/>
                  </a:lnTo>
                  <a:cubicBezTo>
                    <a:pt x="37203" y="1479273"/>
                    <a:pt x="24325" y="1473939"/>
                    <a:pt x="14829" y="1464444"/>
                  </a:cubicBezTo>
                  <a:cubicBezTo>
                    <a:pt x="5334" y="1454949"/>
                    <a:pt x="0" y="1442071"/>
                    <a:pt x="0" y="1428642"/>
                  </a:cubicBezTo>
                  <a:lnTo>
                    <a:pt x="0" y="50631"/>
                  </a:lnTo>
                  <a:cubicBezTo>
                    <a:pt x="0" y="37203"/>
                    <a:pt x="5334" y="24325"/>
                    <a:pt x="14829" y="14829"/>
                  </a:cubicBezTo>
                  <a:cubicBezTo>
                    <a:pt x="24325" y="5334"/>
                    <a:pt x="37203" y="0"/>
                    <a:pt x="5063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522851" cy="1536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38769" y="4687754"/>
            <a:ext cx="7249670" cy="355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1. Configuration locale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.1. Plan de numérotation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.2. Serveur Vocal Interactif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.3. Prise en compte des heures de bureau &amp; du statuts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71022" y="4169265"/>
            <a:ext cx="8207671" cy="4572580"/>
            <a:chOff x="0" y="0"/>
            <a:chExt cx="2655260" cy="147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5260" cy="1479273"/>
            </a:xfrm>
            <a:custGeom>
              <a:avLst/>
              <a:gdLst/>
              <a:ahLst/>
              <a:cxnLst/>
              <a:rect r="r" b="b" t="t" l="l"/>
              <a:pathLst>
                <a:path h="1479273" w="2655260">
                  <a:moveTo>
                    <a:pt x="48106" y="0"/>
                  </a:moveTo>
                  <a:lnTo>
                    <a:pt x="2607154" y="0"/>
                  </a:lnTo>
                  <a:cubicBezTo>
                    <a:pt x="2619912" y="0"/>
                    <a:pt x="2632148" y="5068"/>
                    <a:pt x="2641170" y="14090"/>
                  </a:cubicBezTo>
                  <a:cubicBezTo>
                    <a:pt x="2650192" y="23112"/>
                    <a:pt x="2655260" y="35347"/>
                    <a:pt x="2655260" y="48106"/>
                  </a:cubicBezTo>
                  <a:lnTo>
                    <a:pt x="2655260" y="1431167"/>
                  </a:lnTo>
                  <a:cubicBezTo>
                    <a:pt x="2655260" y="1443926"/>
                    <a:pt x="2650192" y="1456162"/>
                    <a:pt x="2641170" y="1465183"/>
                  </a:cubicBezTo>
                  <a:cubicBezTo>
                    <a:pt x="2632148" y="1474205"/>
                    <a:pt x="2619912" y="1479273"/>
                    <a:pt x="2607154" y="1479273"/>
                  </a:cubicBezTo>
                  <a:lnTo>
                    <a:pt x="48106" y="1479273"/>
                  </a:lnTo>
                  <a:cubicBezTo>
                    <a:pt x="35347" y="1479273"/>
                    <a:pt x="23112" y="1474205"/>
                    <a:pt x="14090" y="1465183"/>
                  </a:cubicBezTo>
                  <a:cubicBezTo>
                    <a:pt x="5068" y="1456162"/>
                    <a:pt x="0" y="1443926"/>
                    <a:pt x="0" y="1431167"/>
                  </a:cubicBezTo>
                  <a:lnTo>
                    <a:pt x="0" y="48106"/>
                  </a:lnTo>
                  <a:cubicBezTo>
                    <a:pt x="0" y="35347"/>
                    <a:pt x="5068" y="23112"/>
                    <a:pt x="14090" y="14090"/>
                  </a:cubicBezTo>
                  <a:cubicBezTo>
                    <a:pt x="23112" y="5068"/>
                    <a:pt x="35347" y="0"/>
                    <a:pt x="481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655260" cy="1536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55516" y="4687754"/>
            <a:ext cx="7894603" cy="296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Connection à l’extérieur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.1. Connection à l’opérateur télécom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.2. Plan de numérotation 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VM simulant Operateur Telecom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8769" y="1727067"/>
            <a:ext cx="12461868" cy="12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6"/>
              </a:lnSpc>
            </a:pPr>
            <a:r>
              <a:rPr lang="en-US" sz="69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INTÉGRATION DU PARE-FEU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169265"/>
            <a:ext cx="7798382" cy="4572580"/>
            <a:chOff x="0" y="0"/>
            <a:chExt cx="2522851" cy="147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2851" cy="1479273"/>
            </a:xfrm>
            <a:custGeom>
              <a:avLst/>
              <a:gdLst/>
              <a:ahLst/>
              <a:cxnLst/>
              <a:rect r="r" b="b" t="t" l="l"/>
              <a:pathLst>
                <a:path h="1479273" w="2522851">
                  <a:moveTo>
                    <a:pt x="50631" y="0"/>
                  </a:moveTo>
                  <a:lnTo>
                    <a:pt x="2472220" y="0"/>
                  </a:lnTo>
                  <a:cubicBezTo>
                    <a:pt x="2485648" y="0"/>
                    <a:pt x="2498527" y="5334"/>
                    <a:pt x="2508022" y="14829"/>
                  </a:cubicBezTo>
                  <a:cubicBezTo>
                    <a:pt x="2517517" y="24325"/>
                    <a:pt x="2522851" y="37203"/>
                    <a:pt x="2522851" y="50631"/>
                  </a:cubicBezTo>
                  <a:lnTo>
                    <a:pt x="2522851" y="1428642"/>
                  </a:lnTo>
                  <a:cubicBezTo>
                    <a:pt x="2522851" y="1442071"/>
                    <a:pt x="2517517" y="1454949"/>
                    <a:pt x="2508022" y="1464444"/>
                  </a:cubicBezTo>
                  <a:cubicBezTo>
                    <a:pt x="2498527" y="1473939"/>
                    <a:pt x="2485648" y="1479273"/>
                    <a:pt x="2472220" y="1479273"/>
                  </a:cubicBezTo>
                  <a:lnTo>
                    <a:pt x="50631" y="1479273"/>
                  </a:lnTo>
                  <a:cubicBezTo>
                    <a:pt x="37203" y="1479273"/>
                    <a:pt x="24325" y="1473939"/>
                    <a:pt x="14829" y="1464444"/>
                  </a:cubicBezTo>
                  <a:cubicBezTo>
                    <a:pt x="5334" y="1454949"/>
                    <a:pt x="0" y="1442071"/>
                    <a:pt x="0" y="1428642"/>
                  </a:cubicBezTo>
                  <a:lnTo>
                    <a:pt x="0" y="50631"/>
                  </a:lnTo>
                  <a:cubicBezTo>
                    <a:pt x="0" y="37203"/>
                    <a:pt x="5334" y="24325"/>
                    <a:pt x="14829" y="14829"/>
                  </a:cubicBezTo>
                  <a:cubicBezTo>
                    <a:pt x="24325" y="5334"/>
                    <a:pt x="37203" y="0"/>
                    <a:pt x="5063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522851" cy="1536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38769" y="4687754"/>
            <a:ext cx="7249670" cy="355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1. Évolution de l’infrastructure 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1.1 Présentation de l’infrastructure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1.2 Modification sur l’IPBX 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1.3 Installation du pare-feu Stormshield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71022" y="4169265"/>
            <a:ext cx="8207671" cy="4572580"/>
            <a:chOff x="0" y="0"/>
            <a:chExt cx="2655260" cy="147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5260" cy="1479273"/>
            </a:xfrm>
            <a:custGeom>
              <a:avLst/>
              <a:gdLst/>
              <a:ahLst/>
              <a:cxnLst/>
              <a:rect r="r" b="b" t="t" l="l"/>
              <a:pathLst>
                <a:path h="1479273" w="2655260">
                  <a:moveTo>
                    <a:pt x="48106" y="0"/>
                  </a:moveTo>
                  <a:lnTo>
                    <a:pt x="2607154" y="0"/>
                  </a:lnTo>
                  <a:cubicBezTo>
                    <a:pt x="2619912" y="0"/>
                    <a:pt x="2632148" y="5068"/>
                    <a:pt x="2641170" y="14090"/>
                  </a:cubicBezTo>
                  <a:cubicBezTo>
                    <a:pt x="2650192" y="23112"/>
                    <a:pt x="2655260" y="35347"/>
                    <a:pt x="2655260" y="48106"/>
                  </a:cubicBezTo>
                  <a:lnTo>
                    <a:pt x="2655260" y="1431167"/>
                  </a:lnTo>
                  <a:cubicBezTo>
                    <a:pt x="2655260" y="1443926"/>
                    <a:pt x="2650192" y="1456162"/>
                    <a:pt x="2641170" y="1465183"/>
                  </a:cubicBezTo>
                  <a:cubicBezTo>
                    <a:pt x="2632148" y="1474205"/>
                    <a:pt x="2619912" y="1479273"/>
                    <a:pt x="2607154" y="1479273"/>
                  </a:cubicBezTo>
                  <a:lnTo>
                    <a:pt x="48106" y="1479273"/>
                  </a:lnTo>
                  <a:cubicBezTo>
                    <a:pt x="35347" y="1479273"/>
                    <a:pt x="23112" y="1474205"/>
                    <a:pt x="14090" y="1465183"/>
                  </a:cubicBezTo>
                  <a:cubicBezTo>
                    <a:pt x="5068" y="1456162"/>
                    <a:pt x="0" y="1443926"/>
                    <a:pt x="0" y="1431167"/>
                  </a:cubicBezTo>
                  <a:lnTo>
                    <a:pt x="0" y="48106"/>
                  </a:lnTo>
                  <a:cubicBezTo>
                    <a:pt x="0" y="35347"/>
                    <a:pt x="5068" y="23112"/>
                    <a:pt x="14090" y="14090"/>
                  </a:cubicBezTo>
                  <a:cubicBezTo>
                    <a:pt x="23112" y="5068"/>
                    <a:pt x="35347" y="0"/>
                    <a:pt x="481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655260" cy="1536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55516" y="4687754"/>
            <a:ext cx="7894603" cy="296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Configurer notre pare-feu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2.1. Les règles du pare-feu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2.2. Accès à l’IPBX depuis l’extérieur 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2.3. Lien vers l’extérieur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50506" y="5791637"/>
            <a:ext cx="3700425" cy="1956600"/>
          </a:xfrm>
          <a:custGeom>
            <a:avLst/>
            <a:gdLst/>
            <a:ahLst/>
            <a:cxnLst/>
            <a:rect r="r" b="b" t="t" l="l"/>
            <a:pathLst>
              <a:path h="1956600" w="3700425">
                <a:moveTo>
                  <a:pt x="0" y="0"/>
                </a:moveTo>
                <a:lnTo>
                  <a:pt x="3700426" y="0"/>
                </a:lnTo>
                <a:lnTo>
                  <a:pt x="3700426" y="1956600"/>
                </a:lnTo>
                <a:lnTo>
                  <a:pt x="0" y="1956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71058" y="3438884"/>
            <a:ext cx="1709345" cy="1709345"/>
          </a:xfrm>
          <a:custGeom>
            <a:avLst/>
            <a:gdLst/>
            <a:ahLst/>
            <a:cxnLst/>
            <a:rect r="r" b="b" t="t" l="l"/>
            <a:pathLst>
              <a:path h="1709345" w="1709345">
                <a:moveTo>
                  <a:pt x="0" y="0"/>
                </a:moveTo>
                <a:lnTo>
                  <a:pt x="1709346" y="0"/>
                </a:lnTo>
                <a:lnTo>
                  <a:pt x="1709346" y="1709345"/>
                </a:lnTo>
                <a:lnTo>
                  <a:pt x="0" y="1709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50932" y="3563594"/>
            <a:ext cx="2709809" cy="1707180"/>
          </a:xfrm>
          <a:custGeom>
            <a:avLst/>
            <a:gdLst/>
            <a:ahLst/>
            <a:cxnLst/>
            <a:rect r="r" b="b" t="t" l="l"/>
            <a:pathLst>
              <a:path h="1707180" w="2709809">
                <a:moveTo>
                  <a:pt x="0" y="0"/>
                </a:moveTo>
                <a:lnTo>
                  <a:pt x="2709809" y="0"/>
                </a:lnTo>
                <a:lnTo>
                  <a:pt x="2709809" y="1707180"/>
                </a:lnTo>
                <a:lnTo>
                  <a:pt x="0" y="1707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07069" y="6291818"/>
            <a:ext cx="1794548" cy="1794548"/>
          </a:xfrm>
          <a:custGeom>
            <a:avLst/>
            <a:gdLst/>
            <a:ahLst/>
            <a:cxnLst/>
            <a:rect r="r" b="b" t="t" l="l"/>
            <a:pathLst>
              <a:path h="1794548" w="1794548">
                <a:moveTo>
                  <a:pt x="0" y="0"/>
                </a:moveTo>
                <a:lnTo>
                  <a:pt x="1794548" y="0"/>
                </a:lnTo>
                <a:lnTo>
                  <a:pt x="1794548" y="1794548"/>
                </a:lnTo>
                <a:lnTo>
                  <a:pt x="0" y="1794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454" t="-16945" r="-69094" b="-2258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51560" y="6069660"/>
            <a:ext cx="3026951" cy="2016706"/>
          </a:xfrm>
          <a:custGeom>
            <a:avLst/>
            <a:gdLst/>
            <a:ahLst/>
            <a:cxnLst/>
            <a:rect r="r" b="b" t="t" l="l"/>
            <a:pathLst>
              <a:path h="2016706" w="3026951">
                <a:moveTo>
                  <a:pt x="0" y="0"/>
                </a:moveTo>
                <a:lnTo>
                  <a:pt x="3026951" y="0"/>
                </a:lnTo>
                <a:lnTo>
                  <a:pt x="3026951" y="2016706"/>
                </a:lnTo>
                <a:lnTo>
                  <a:pt x="0" y="20167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0792" y="553287"/>
            <a:ext cx="9264792" cy="1709899"/>
          </a:xfrm>
          <a:custGeom>
            <a:avLst/>
            <a:gdLst/>
            <a:ahLst/>
            <a:cxnLst/>
            <a:rect r="r" b="b" t="t" l="l"/>
            <a:pathLst>
              <a:path h="1709899" w="9264792">
                <a:moveTo>
                  <a:pt x="0" y="0"/>
                </a:moveTo>
                <a:lnTo>
                  <a:pt x="9264792" y="0"/>
                </a:lnTo>
                <a:lnTo>
                  <a:pt x="9264792" y="1709899"/>
                </a:lnTo>
                <a:lnTo>
                  <a:pt x="0" y="1709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3000"/>
            </a:blip>
            <a:stretch>
              <a:fillRect l="-46345" t="-186719" r="-4041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6556" y="627105"/>
            <a:ext cx="10558345" cy="105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TECHNOLOGIES UTILISÉES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746556" y="1679299"/>
            <a:ext cx="7848399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594955" y="1459860"/>
            <a:ext cx="647043" cy="803326"/>
          </a:xfrm>
          <a:custGeom>
            <a:avLst/>
            <a:gdLst/>
            <a:ahLst/>
            <a:cxnLst/>
            <a:rect r="r" b="b" t="t" l="l"/>
            <a:pathLst>
              <a:path h="803326" w="647043">
                <a:moveTo>
                  <a:pt x="0" y="0"/>
                </a:moveTo>
                <a:lnTo>
                  <a:pt x="647042" y="0"/>
                </a:lnTo>
                <a:lnTo>
                  <a:pt x="647042" y="803326"/>
                </a:lnTo>
                <a:lnTo>
                  <a:pt x="0" y="8033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20433" y="3563594"/>
            <a:ext cx="1847134" cy="1844825"/>
          </a:xfrm>
          <a:custGeom>
            <a:avLst/>
            <a:gdLst/>
            <a:ahLst/>
            <a:cxnLst/>
            <a:rect r="r" b="b" t="t" l="l"/>
            <a:pathLst>
              <a:path h="1844825" w="1847134">
                <a:moveTo>
                  <a:pt x="0" y="0"/>
                </a:moveTo>
                <a:lnTo>
                  <a:pt x="1847134" y="0"/>
                </a:lnTo>
                <a:lnTo>
                  <a:pt x="1847134" y="1844825"/>
                </a:lnTo>
                <a:lnTo>
                  <a:pt x="0" y="18448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88803" y="3947381"/>
            <a:ext cx="9910394" cy="2392238"/>
          </a:xfrm>
          <a:custGeom>
            <a:avLst/>
            <a:gdLst/>
            <a:ahLst/>
            <a:cxnLst/>
            <a:rect r="r" b="b" t="t" l="l"/>
            <a:pathLst>
              <a:path h="2392238" w="9910394">
                <a:moveTo>
                  <a:pt x="0" y="0"/>
                </a:moveTo>
                <a:lnTo>
                  <a:pt x="9910394" y="0"/>
                </a:lnTo>
                <a:lnTo>
                  <a:pt x="9910394" y="2392238"/>
                </a:lnTo>
                <a:lnTo>
                  <a:pt x="0" y="2392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96707" y="4432915"/>
            <a:ext cx="10012353" cy="101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6"/>
              </a:lnSpc>
            </a:pPr>
            <a:r>
              <a:rPr lang="en-US" sz="677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AUTO-CERTIFICATION 3CX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70822" y="3477169"/>
            <a:ext cx="13096956" cy="4653431"/>
            <a:chOff x="0" y="0"/>
            <a:chExt cx="4236990" cy="1505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36990" cy="1505429"/>
            </a:xfrm>
            <a:custGeom>
              <a:avLst/>
              <a:gdLst/>
              <a:ahLst/>
              <a:cxnLst/>
              <a:rect r="r" b="b" t="t" l="l"/>
              <a:pathLst>
                <a:path h="1505429" w="4236990">
                  <a:moveTo>
                    <a:pt x="30147" y="0"/>
                  </a:moveTo>
                  <a:lnTo>
                    <a:pt x="4206843" y="0"/>
                  </a:lnTo>
                  <a:cubicBezTo>
                    <a:pt x="4214838" y="0"/>
                    <a:pt x="4222507" y="3176"/>
                    <a:pt x="4228160" y="8830"/>
                  </a:cubicBezTo>
                  <a:cubicBezTo>
                    <a:pt x="4233814" y="14484"/>
                    <a:pt x="4236990" y="22152"/>
                    <a:pt x="4236990" y="30147"/>
                  </a:cubicBezTo>
                  <a:lnTo>
                    <a:pt x="4236990" y="1475282"/>
                  </a:lnTo>
                  <a:cubicBezTo>
                    <a:pt x="4236990" y="1483278"/>
                    <a:pt x="4233814" y="1490946"/>
                    <a:pt x="4228160" y="1496600"/>
                  </a:cubicBezTo>
                  <a:cubicBezTo>
                    <a:pt x="4222507" y="1502253"/>
                    <a:pt x="4214838" y="1505429"/>
                    <a:pt x="4206843" y="1505429"/>
                  </a:cubicBezTo>
                  <a:lnTo>
                    <a:pt x="30147" y="1505429"/>
                  </a:lnTo>
                  <a:cubicBezTo>
                    <a:pt x="22152" y="1505429"/>
                    <a:pt x="14484" y="1502253"/>
                    <a:pt x="8830" y="1496600"/>
                  </a:cubicBezTo>
                  <a:cubicBezTo>
                    <a:pt x="3176" y="1490946"/>
                    <a:pt x="0" y="1483278"/>
                    <a:pt x="0" y="1475282"/>
                  </a:cubicBezTo>
                  <a:lnTo>
                    <a:pt x="0" y="30147"/>
                  </a:lnTo>
                  <a:cubicBezTo>
                    <a:pt x="0" y="22152"/>
                    <a:pt x="3176" y="14484"/>
                    <a:pt x="8830" y="8830"/>
                  </a:cubicBezTo>
                  <a:cubicBezTo>
                    <a:pt x="14484" y="3176"/>
                    <a:pt x="22152" y="0"/>
                    <a:pt x="30147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36990" cy="1562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19533" y="510105"/>
            <a:ext cx="1896489" cy="1930355"/>
          </a:xfrm>
          <a:custGeom>
            <a:avLst/>
            <a:gdLst/>
            <a:ahLst/>
            <a:cxnLst/>
            <a:rect r="r" b="b" t="t" l="l"/>
            <a:pathLst>
              <a:path h="1930355" w="1896489">
                <a:moveTo>
                  <a:pt x="0" y="0"/>
                </a:moveTo>
                <a:lnTo>
                  <a:pt x="1896490" y="0"/>
                </a:lnTo>
                <a:lnTo>
                  <a:pt x="1896490" y="1930355"/>
                </a:lnTo>
                <a:lnTo>
                  <a:pt x="0" y="1930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937" t="-14139" r="-74957" b="-1423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0792" y="553287"/>
            <a:ext cx="14118399" cy="1222445"/>
          </a:xfrm>
          <a:custGeom>
            <a:avLst/>
            <a:gdLst/>
            <a:ahLst/>
            <a:cxnLst/>
            <a:rect r="r" b="b" t="t" l="l"/>
            <a:pathLst>
              <a:path h="1222445" w="14118399">
                <a:moveTo>
                  <a:pt x="0" y="0"/>
                </a:moveTo>
                <a:lnTo>
                  <a:pt x="14118399" y="0"/>
                </a:lnTo>
                <a:lnTo>
                  <a:pt x="14118399" y="1222445"/>
                </a:lnTo>
                <a:lnTo>
                  <a:pt x="0" y="122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3000"/>
            </a:blip>
            <a:stretch>
              <a:fillRect l="-33004" t="-289396" r="0" b="-4583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9987" y="463611"/>
            <a:ext cx="13647620" cy="101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8"/>
              </a:lnSpc>
            </a:pPr>
            <a:r>
              <a:rPr lang="en-US" sz="592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3CX : SOLUTION DE COMMUNICATION UNIFIÉE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77587" y="3991641"/>
            <a:ext cx="12483425" cy="311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 basée sur VoIP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Remplace les standards téléphoniques 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Appels depuis applications mobiles et web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Intégration facile : Compatible avec Microsoft 365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Sécurité: Chiffrement des communications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1333" y="416885"/>
            <a:ext cx="2234780" cy="2234780"/>
          </a:xfrm>
          <a:custGeom>
            <a:avLst/>
            <a:gdLst/>
            <a:ahLst/>
            <a:cxnLst/>
            <a:rect r="r" b="b" t="t" l="l"/>
            <a:pathLst>
              <a:path h="2234780" w="2234780">
                <a:moveTo>
                  <a:pt x="0" y="0"/>
                </a:moveTo>
                <a:lnTo>
                  <a:pt x="2234780" y="0"/>
                </a:lnTo>
                <a:lnTo>
                  <a:pt x="2234780" y="2234781"/>
                </a:lnTo>
                <a:lnTo>
                  <a:pt x="0" y="2234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70822" y="2651666"/>
            <a:ext cx="13096956" cy="2491834"/>
            <a:chOff x="0" y="0"/>
            <a:chExt cx="4236990" cy="8061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36990" cy="806132"/>
            </a:xfrm>
            <a:custGeom>
              <a:avLst/>
              <a:gdLst/>
              <a:ahLst/>
              <a:cxnLst/>
              <a:rect r="r" b="b" t="t" l="l"/>
              <a:pathLst>
                <a:path h="806132" w="4236990">
                  <a:moveTo>
                    <a:pt x="30147" y="0"/>
                  </a:moveTo>
                  <a:lnTo>
                    <a:pt x="4206843" y="0"/>
                  </a:lnTo>
                  <a:cubicBezTo>
                    <a:pt x="4214838" y="0"/>
                    <a:pt x="4222507" y="3176"/>
                    <a:pt x="4228160" y="8830"/>
                  </a:cubicBezTo>
                  <a:cubicBezTo>
                    <a:pt x="4233814" y="14484"/>
                    <a:pt x="4236990" y="22152"/>
                    <a:pt x="4236990" y="30147"/>
                  </a:cubicBezTo>
                  <a:lnTo>
                    <a:pt x="4236990" y="775985"/>
                  </a:lnTo>
                  <a:cubicBezTo>
                    <a:pt x="4236990" y="783980"/>
                    <a:pt x="4233814" y="791648"/>
                    <a:pt x="4228160" y="797302"/>
                  </a:cubicBezTo>
                  <a:cubicBezTo>
                    <a:pt x="4222507" y="802956"/>
                    <a:pt x="4214838" y="806132"/>
                    <a:pt x="4206843" y="806132"/>
                  </a:cubicBezTo>
                  <a:lnTo>
                    <a:pt x="30147" y="806132"/>
                  </a:lnTo>
                  <a:cubicBezTo>
                    <a:pt x="22152" y="806132"/>
                    <a:pt x="14484" y="802956"/>
                    <a:pt x="8830" y="797302"/>
                  </a:cubicBezTo>
                  <a:cubicBezTo>
                    <a:pt x="3176" y="791648"/>
                    <a:pt x="0" y="783980"/>
                    <a:pt x="0" y="775985"/>
                  </a:cubicBezTo>
                  <a:lnTo>
                    <a:pt x="0" y="30147"/>
                  </a:lnTo>
                  <a:cubicBezTo>
                    <a:pt x="0" y="22152"/>
                    <a:pt x="3176" y="14484"/>
                    <a:pt x="8830" y="8830"/>
                  </a:cubicBezTo>
                  <a:cubicBezTo>
                    <a:pt x="14484" y="3176"/>
                    <a:pt x="22152" y="0"/>
                    <a:pt x="30147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236990" cy="863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86926" y="151138"/>
            <a:ext cx="7959179" cy="1222445"/>
          </a:xfrm>
          <a:custGeom>
            <a:avLst/>
            <a:gdLst/>
            <a:ahLst/>
            <a:cxnLst/>
            <a:rect r="r" b="b" t="t" l="l"/>
            <a:pathLst>
              <a:path h="1222445" w="7959179">
                <a:moveTo>
                  <a:pt x="0" y="0"/>
                </a:moveTo>
                <a:lnTo>
                  <a:pt x="7959179" y="0"/>
                </a:lnTo>
                <a:lnTo>
                  <a:pt x="7959179" y="1222445"/>
                </a:lnTo>
                <a:lnTo>
                  <a:pt x="0" y="122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3000"/>
            </a:blip>
            <a:stretch>
              <a:fillRect l="-58545" t="-289396" r="-77385" b="-4583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3853" y="149647"/>
            <a:ext cx="13647620" cy="106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8"/>
              </a:lnSpc>
            </a:pPr>
            <a:r>
              <a:rPr lang="en-US" sz="592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INSTALLATION 3CX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12657" y="2987212"/>
            <a:ext cx="685902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Prise en main 3CX: 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53457" y="3638193"/>
            <a:ext cx="6859022" cy="4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Site : https://www.3cx.fr/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4771" y="159320"/>
            <a:ext cx="1206080" cy="1206080"/>
          </a:xfrm>
          <a:custGeom>
            <a:avLst/>
            <a:gdLst/>
            <a:ahLst/>
            <a:cxnLst/>
            <a:rect r="r" b="b" t="t" l="l"/>
            <a:pathLst>
              <a:path h="1206080" w="1206080">
                <a:moveTo>
                  <a:pt x="0" y="0"/>
                </a:moveTo>
                <a:lnTo>
                  <a:pt x="1206081" y="0"/>
                </a:lnTo>
                <a:lnTo>
                  <a:pt x="1206081" y="1206081"/>
                </a:lnTo>
                <a:lnTo>
                  <a:pt x="0" y="1206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3261" y="1365401"/>
            <a:ext cx="16706039" cy="7892899"/>
          </a:xfrm>
          <a:custGeom>
            <a:avLst/>
            <a:gdLst/>
            <a:ahLst/>
            <a:cxnLst/>
            <a:rect r="r" b="b" t="t" l="l"/>
            <a:pathLst>
              <a:path h="7892899" w="16706039">
                <a:moveTo>
                  <a:pt x="0" y="0"/>
                </a:moveTo>
                <a:lnTo>
                  <a:pt x="16706039" y="0"/>
                </a:lnTo>
                <a:lnTo>
                  <a:pt x="16706039" y="7892899"/>
                </a:lnTo>
                <a:lnTo>
                  <a:pt x="0" y="78928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125" r="-37198" b="-3222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1434" y="3364214"/>
            <a:ext cx="8760147" cy="2518542"/>
          </a:xfrm>
          <a:custGeom>
            <a:avLst/>
            <a:gdLst/>
            <a:ahLst/>
            <a:cxnLst/>
            <a:rect r="r" b="b" t="t" l="l"/>
            <a:pathLst>
              <a:path h="2518542" w="8760147">
                <a:moveTo>
                  <a:pt x="0" y="0"/>
                </a:moveTo>
                <a:lnTo>
                  <a:pt x="8760147" y="0"/>
                </a:lnTo>
                <a:lnTo>
                  <a:pt x="8760147" y="2518542"/>
                </a:lnTo>
                <a:lnTo>
                  <a:pt x="0" y="2518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1860" y="5951241"/>
            <a:ext cx="7734421" cy="2987420"/>
          </a:xfrm>
          <a:custGeom>
            <a:avLst/>
            <a:gdLst/>
            <a:ahLst/>
            <a:cxnLst/>
            <a:rect r="r" b="b" t="t" l="l"/>
            <a:pathLst>
              <a:path h="2987420" w="7734421">
                <a:moveTo>
                  <a:pt x="0" y="0"/>
                </a:moveTo>
                <a:lnTo>
                  <a:pt x="7734421" y="0"/>
                </a:lnTo>
                <a:lnTo>
                  <a:pt x="7734421" y="2987420"/>
                </a:lnTo>
                <a:lnTo>
                  <a:pt x="0" y="29874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06281" y="5882756"/>
            <a:ext cx="8115300" cy="3124391"/>
          </a:xfrm>
          <a:custGeom>
            <a:avLst/>
            <a:gdLst/>
            <a:ahLst/>
            <a:cxnLst/>
            <a:rect r="r" b="b" t="t" l="l"/>
            <a:pathLst>
              <a:path h="3124391" w="8115300">
                <a:moveTo>
                  <a:pt x="0" y="0"/>
                </a:moveTo>
                <a:lnTo>
                  <a:pt x="8115300" y="0"/>
                </a:lnTo>
                <a:lnTo>
                  <a:pt x="8115300" y="3124391"/>
                </a:lnTo>
                <a:lnTo>
                  <a:pt x="0" y="312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58619" y="1569120"/>
            <a:ext cx="5302815" cy="4313636"/>
          </a:xfrm>
          <a:custGeom>
            <a:avLst/>
            <a:gdLst/>
            <a:ahLst/>
            <a:cxnLst/>
            <a:rect r="r" b="b" t="t" l="l"/>
            <a:pathLst>
              <a:path h="4313636" w="5302815">
                <a:moveTo>
                  <a:pt x="0" y="0"/>
                </a:moveTo>
                <a:lnTo>
                  <a:pt x="5302815" y="0"/>
                </a:lnTo>
                <a:lnTo>
                  <a:pt x="5302815" y="4313636"/>
                </a:lnTo>
                <a:lnTo>
                  <a:pt x="0" y="43136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6926" y="151138"/>
            <a:ext cx="14118399" cy="1222445"/>
          </a:xfrm>
          <a:custGeom>
            <a:avLst/>
            <a:gdLst/>
            <a:ahLst/>
            <a:cxnLst/>
            <a:rect r="r" b="b" t="t" l="l"/>
            <a:pathLst>
              <a:path h="1222445" w="14118399">
                <a:moveTo>
                  <a:pt x="0" y="0"/>
                </a:moveTo>
                <a:lnTo>
                  <a:pt x="14118399" y="0"/>
                </a:lnTo>
                <a:lnTo>
                  <a:pt x="14118399" y="1222445"/>
                </a:lnTo>
                <a:lnTo>
                  <a:pt x="0" y="12224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3000"/>
            </a:blip>
            <a:stretch>
              <a:fillRect l="-33004" t="-289396" r="0" b="-4583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3853" y="149647"/>
            <a:ext cx="13647620" cy="106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8"/>
              </a:lnSpc>
            </a:pPr>
            <a:r>
              <a:rPr lang="en-US" sz="592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INSTALLATION ET FONCTIONNALITÉS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93930" y="1427359"/>
            <a:ext cx="18094070" cy="7406988"/>
            <a:chOff x="0" y="0"/>
            <a:chExt cx="6350000" cy="25994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271" y="9271"/>
              <a:ext cx="6331458" cy="2580894"/>
            </a:xfrm>
            <a:custGeom>
              <a:avLst/>
              <a:gdLst/>
              <a:ahLst/>
              <a:cxnLst/>
              <a:rect r="r" b="b" t="t" l="l"/>
              <a:pathLst>
                <a:path h="2580894" w="6331458">
                  <a:moveTo>
                    <a:pt x="6331458" y="0"/>
                  </a:moveTo>
                  <a:lnTo>
                    <a:pt x="6331458" y="2580894"/>
                  </a:lnTo>
                  <a:lnTo>
                    <a:pt x="0" y="2580894"/>
                  </a:lnTo>
                  <a:lnTo>
                    <a:pt x="0" y="0"/>
                  </a:lnTo>
                  <a:lnTo>
                    <a:pt x="6331458" y="0"/>
                  </a:lnTo>
                  <a:close/>
                </a:path>
              </a:pathLst>
            </a:custGeom>
            <a:blipFill>
              <a:blip r:embed="rId3"/>
              <a:stretch>
                <a:fillRect l="0" t="-72660" r="0" b="-7266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2599436"/>
            </a:xfrm>
            <a:custGeom>
              <a:avLst/>
              <a:gdLst/>
              <a:ahLst/>
              <a:cxnLst/>
              <a:rect r="r" b="b" t="t" l="l"/>
              <a:pathLst>
                <a:path h="2599436" w="6350000">
                  <a:moveTo>
                    <a:pt x="6350000" y="0"/>
                  </a:moveTo>
                  <a:lnTo>
                    <a:pt x="6350000" y="2599436"/>
                  </a:lnTo>
                  <a:lnTo>
                    <a:pt x="0" y="2599436"/>
                  </a:lnTo>
                  <a:lnTo>
                    <a:pt x="0" y="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0" t="-78" r="0" b="-7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93043" y="3490051"/>
            <a:ext cx="2307809" cy="4744480"/>
          </a:xfrm>
          <a:custGeom>
            <a:avLst/>
            <a:gdLst/>
            <a:ahLst/>
            <a:cxnLst/>
            <a:rect r="r" b="b" t="t" l="l"/>
            <a:pathLst>
              <a:path h="4744480" w="2307809">
                <a:moveTo>
                  <a:pt x="0" y="0"/>
                </a:moveTo>
                <a:lnTo>
                  <a:pt x="2307809" y="0"/>
                </a:lnTo>
                <a:lnTo>
                  <a:pt x="2307809" y="4744480"/>
                </a:lnTo>
                <a:lnTo>
                  <a:pt x="0" y="4744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94771" y="159320"/>
            <a:ext cx="1206080" cy="1206080"/>
          </a:xfrm>
          <a:custGeom>
            <a:avLst/>
            <a:gdLst/>
            <a:ahLst/>
            <a:cxnLst/>
            <a:rect r="r" b="b" t="t" l="l"/>
            <a:pathLst>
              <a:path h="1206080" w="1206080">
                <a:moveTo>
                  <a:pt x="0" y="0"/>
                </a:moveTo>
                <a:lnTo>
                  <a:pt x="1206081" y="0"/>
                </a:lnTo>
                <a:lnTo>
                  <a:pt x="1206081" y="1206081"/>
                </a:lnTo>
                <a:lnTo>
                  <a:pt x="0" y="1206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7519" y="1877573"/>
            <a:ext cx="3091071" cy="6356958"/>
          </a:xfrm>
          <a:custGeom>
            <a:avLst/>
            <a:gdLst/>
            <a:ahLst/>
            <a:cxnLst/>
            <a:rect r="r" b="b" t="t" l="l"/>
            <a:pathLst>
              <a:path h="6356958" w="3091071">
                <a:moveTo>
                  <a:pt x="0" y="0"/>
                </a:moveTo>
                <a:lnTo>
                  <a:pt x="3091070" y="0"/>
                </a:lnTo>
                <a:lnTo>
                  <a:pt x="309107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81305" y="1877573"/>
            <a:ext cx="4306839" cy="6356958"/>
          </a:xfrm>
          <a:custGeom>
            <a:avLst/>
            <a:gdLst/>
            <a:ahLst/>
            <a:cxnLst/>
            <a:rect r="r" b="b" t="t" l="l"/>
            <a:pathLst>
              <a:path h="6356958" w="4306839">
                <a:moveTo>
                  <a:pt x="0" y="0"/>
                </a:moveTo>
                <a:lnTo>
                  <a:pt x="4306839" y="0"/>
                </a:lnTo>
                <a:lnTo>
                  <a:pt x="430683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87013" y="4346713"/>
            <a:ext cx="7250011" cy="3887818"/>
          </a:xfrm>
          <a:custGeom>
            <a:avLst/>
            <a:gdLst/>
            <a:ahLst/>
            <a:cxnLst/>
            <a:rect r="r" b="b" t="t" l="l"/>
            <a:pathLst>
              <a:path h="3887818" w="7250011">
                <a:moveTo>
                  <a:pt x="0" y="0"/>
                </a:moveTo>
                <a:lnTo>
                  <a:pt x="7250011" y="0"/>
                </a:lnTo>
                <a:lnTo>
                  <a:pt x="7250011" y="3887818"/>
                </a:lnTo>
                <a:lnTo>
                  <a:pt x="0" y="3887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86926" y="151138"/>
            <a:ext cx="6330264" cy="1222445"/>
          </a:xfrm>
          <a:custGeom>
            <a:avLst/>
            <a:gdLst/>
            <a:ahLst/>
            <a:cxnLst/>
            <a:rect r="r" b="b" t="t" l="l"/>
            <a:pathLst>
              <a:path h="1222445" w="6330264">
                <a:moveTo>
                  <a:pt x="0" y="0"/>
                </a:moveTo>
                <a:lnTo>
                  <a:pt x="6330264" y="0"/>
                </a:lnTo>
                <a:lnTo>
                  <a:pt x="6330264" y="1222445"/>
                </a:lnTo>
                <a:lnTo>
                  <a:pt x="0" y="12224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3000"/>
            </a:blip>
            <a:stretch>
              <a:fillRect l="-73610" t="-289396" r="-123030" b="-4583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3853" y="197272"/>
            <a:ext cx="13647620" cy="101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8"/>
              </a:lnSpc>
            </a:pPr>
            <a:r>
              <a:rPr lang="en-US" sz="592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FONCTIONNALITÉS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3853" y="8784598"/>
            <a:ext cx="3429511" cy="87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Connexion Téléphone portable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82887" y="8815721"/>
            <a:ext cx="3429511" cy="4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 de Chat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81920" y="8815721"/>
            <a:ext cx="4849553" cy="4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Réunion : Vidéo Conférence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71341" y="8815721"/>
            <a:ext cx="3429511" cy="4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Connexion Softphone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1333" y="416885"/>
            <a:ext cx="2234780" cy="2234780"/>
          </a:xfrm>
          <a:custGeom>
            <a:avLst/>
            <a:gdLst/>
            <a:ahLst/>
            <a:cxnLst/>
            <a:rect r="r" b="b" t="t" l="l"/>
            <a:pathLst>
              <a:path h="2234780" w="2234780">
                <a:moveTo>
                  <a:pt x="0" y="0"/>
                </a:moveTo>
                <a:lnTo>
                  <a:pt x="2234780" y="0"/>
                </a:lnTo>
                <a:lnTo>
                  <a:pt x="2234780" y="2234781"/>
                </a:lnTo>
                <a:lnTo>
                  <a:pt x="0" y="2234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70822" y="2156400"/>
            <a:ext cx="13096956" cy="5974201"/>
            <a:chOff x="0" y="0"/>
            <a:chExt cx="4236990" cy="1932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36990" cy="1932711"/>
            </a:xfrm>
            <a:custGeom>
              <a:avLst/>
              <a:gdLst/>
              <a:ahLst/>
              <a:cxnLst/>
              <a:rect r="r" b="b" t="t" l="l"/>
              <a:pathLst>
                <a:path h="1932711" w="4236990">
                  <a:moveTo>
                    <a:pt x="30147" y="0"/>
                  </a:moveTo>
                  <a:lnTo>
                    <a:pt x="4206843" y="0"/>
                  </a:lnTo>
                  <a:cubicBezTo>
                    <a:pt x="4214838" y="0"/>
                    <a:pt x="4222507" y="3176"/>
                    <a:pt x="4228160" y="8830"/>
                  </a:cubicBezTo>
                  <a:cubicBezTo>
                    <a:pt x="4233814" y="14484"/>
                    <a:pt x="4236990" y="22152"/>
                    <a:pt x="4236990" y="30147"/>
                  </a:cubicBezTo>
                  <a:lnTo>
                    <a:pt x="4236990" y="1902564"/>
                  </a:lnTo>
                  <a:cubicBezTo>
                    <a:pt x="4236990" y="1910559"/>
                    <a:pt x="4233814" y="1918227"/>
                    <a:pt x="4228160" y="1923881"/>
                  </a:cubicBezTo>
                  <a:cubicBezTo>
                    <a:pt x="4222507" y="1929535"/>
                    <a:pt x="4214838" y="1932711"/>
                    <a:pt x="4206843" y="1932711"/>
                  </a:cubicBezTo>
                  <a:lnTo>
                    <a:pt x="30147" y="1932711"/>
                  </a:lnTo>
                  <a:cubicBezTo>
                    <a:pt x="22152" y="1932711"/>
                    <a:pt x="14484" y="1929535"/>
                    <a:pt x="8830" y="1923881"/>
                  </a:cubicBezTo>
                  <a:cubicBezTo>
                    <a:pt x="3176" y="1918227"/>
                    <a:pt x="0" y="1910559"/>
                    <a:pt x="0" y="1902564"/>
                  </a:cubicBezTo>
                  <a:lnTo>
                    <a:pt x="0" y="30147"/>
                  </a:lnTo>
                  <a:cubicBezTo>
                    <a:pt x="0" y="22152"/>
                    <a:pt x="3176" y="14484"/>
                    <a:pt x="8830" y="8830"/>
                  </a:cubicBezTo>
                  <a:cubicBezTo>
                    <a:pt x="14484" y="3176"/>
                    <a:pt x="22152" y="0"/>
                    <a:pt x="30147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236990" cy="1989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86926" y="151138"/>
            <a:ext cx="7959179" cy="1222445"/>
          </a:xfrm>
          <a:custGeom>
            <a:avLst/>
            <a:gdLst/>
            <a:ahLst/>
            <a:cxnLst/>
            <a:rect r="r" b="b" t="t" l="l"/>
            <a:pathLst>
              <a:path h="1222445" w="7959179">
                <a:moveTo>
                  <a:pt x="0" y="0"/>
                </a:moveTo>
                <a:lnTo>
                  <a:pt x="7959179" y="0"/>
                </a:lnTo>
                <a:lnTo>
                  <a:pt x="7959179" y="1222445"/>
                </a:lnTo>
                <a:lnTo>
                  <a:pt x="0" y="122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3000"/>
            </a:blip>
            <a:stretch>
              <a:fillRect l="-58545" t="-289396" r="-77385" b="-4583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3853" y="149647"/>
            <a:ext cx="13647620" cy="106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8"/>
              </a:lnSpc>
            </a:pPr>
            <a:r>
              <a:rPr lang="en-US" sz="592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INSTALLATION 3CX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72233" y="2565941"/>
            <a:ext cx="685902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Prise en main 3CX: 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79215" y="3415378"/>
            <a:ext cx="9326295" cy="311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Création de compte 3CX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Fonctionnalités 3CX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Création des Utilisateurs 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Connection avec un phone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Utilisation du WebClient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18753" y="6861966"/>
            <a:ext cx="6859022" cy="4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Site : https://www.3cx.fr/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88803" y="3947381"/>
            <a:ext cx="9910394" cy="2392238"/>
          </a:xfrm>
          <a:custGeom>
            <a:avLst/>
            <a:gdLst/>
            <a:ahLst/>
            <a:cxnLst/>
            <a:rect r="r" b="b" t="t" l="l"/>
            <a:pathLst>
              <a:path h="2392238" w="9910394">
                <a:moveTo>
                  <a:pt x="0" y="0"/>
                </a:moveTo>
                <a:lnTo>
                  <a:pt x="9910394" y="0"/>
                </a:lnTo>
                <a:lnTo>
                  <a:pt x="9910394" y="2392238"/>
                </a:lnTo>
                <a:lnTo>
                  <a:pt x="0" y="2392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47424" y="4601292"/>
            <a:ext cx="8793153" cy="102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0"/>
              </a:lnSpc>
            </a:pPr>
            <a:r>
              <a:rPr lang="en-US" b="true" sz="63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CONFIGURATION 3CX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44000"/>
            <a:ext cx="322778" cy="7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0068" y="1809736"/>
            <a:ext cx="13347864" cy="6667528"/>
            <a:chOff x="0" y="0"/>
            <a:chExt cx="3515487" cy="17560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5487" cy="1756057"/>
            </a:xfrm>
            <a:custGeom>
              <a:avLst/>
              <a:gdLst/>
              <a:ahLst/>
              <a:cxnLst/>
              <a:rect r="r" b="b" t="t" l="l"/>
              <a:pathLst>
                <a:path h="1756057" w="3515487">
                  <a:moveTo>
                    <a:pt x="29581" y="0"/>
                  </a:moveTo>
                  <a:lnTo>
                    <a:pt x="3485906" y="0"/>
                  </a:lnTo>
                  <a:cubicBezTo>
                    <a:pt x="3502243" y="0"/>
                    <a:pt x="3515487" y="13244"/>
                    <a:pt x="3515487" y="29581"/>
                  </a:cubicBezTo>
                  <a:lnTo>
                    <a:pt x="3515487" y="1726476"/>
                  </a:lnTo>
                  <a:cubicBezTo>
                    <a:pt x="3515487" y="1734321"/>
                    <a:pt x="3512370" y="1741845"/>
                    <a:pt x="3506823" y="1747393"/>
                  </a:cubicBezTo>
                  <a:cubicBezTo>
                    <a:pt x="3501275" y="1752940"/>
                    <a:pt x="3493751" y="1756057"/>
                    <a:pt x="3485906" y="1756057"/>
                  </a:cubicBezTo>
                  <a:lnTo>
                    <a:pt x="29581" y="1756057"/>
                  </a:lnTo>
                  <a:cubicBezTo>
                    <a:pt x="21735" y="1756057"/>
                    <a:pt x="14211" y="1752940"/>
                    <a:pt x="8664" y="1747393"/>
                  </a:cubicBezTo>
                  <a:cubicBezTo>
                    <a:pt x="3117" y="1741845"/>
                    <a:pt x="0" y="1734321"/>
                    <a:pt x="0" y="1726476"/>
                  </a:cubicBezTo>
                  <a:lnTo>
                    <a:pt x="0" y="29581"/>
                  </a:lnTo>
                  <a:cubicBezTo>
                    <a:pt x="0" y="13244"/>
                    <a:pt x="13244" y="0"/>
                    <a:pt x="2958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15487" cy="181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97255" y="2242170"/>
            <a:ext cx="8293489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8575" y="4492103"/>
            <a:ext cx="11390851" cy="200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L’objectif ici est de configurer sur chaque client un  poste IP avec 3CX Phone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Sur les serveurs 3CX configurer les postes téléphoniqes gérer les appels.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891" y="1272540"/>
            <a:ext cx="7682522" cy="6007539"/>
            <a:chOff x="0" y="0"/>
            <a:chExt cx="2485369" cy="19434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85369" cy="1943496"/>
            </a:xfrm>
            <a:custGeom>
              <a:avLst/>
              <a:gdLst/>
              <a:ahLst/>
              <a:cxnLst/>
              <a:rect r="r" b="b" t="t" l="l"/>
              <a:pathLst>
                <a:path h="1943496" w="2485369">
                  <a:moveTo>
                    <a:pt x="51394" y="0"/>
                  </a:moveTo>
                  <a:lnTo>
                    <a:pt x="2433975" y="0"/>
                  </a:lnTo>
                  <a:cubicBezTo>
                    <a:pt x="2447606" y="0"/>
                    <a:pt x="2460678" y="5415"/>
                    <a:pt x="2470316" y="15053"/>
                  </a:cubicBezTo>
                  <a:cubicBezTo>
                    <a:pt x="2479954" y="24691"/>
                    <a:pt x="2485369" y="37764"/>
                    <a:pt x="2485369" y="51394"/>
                  </a:cubicBezTo>
                  <a:lnTo>
                    <a:pt x="2485369" y="1892102"/>
                  </a:lnTo>
                  <a:cubicBezTo>
                    <a:pt x="2485369" y="1920486"/>
                    <a:pt x="2462359" y="1943496"/>
                    <a:pt x="2433975" y="1943496"/>
                  </a:cubicBezTo>
                  <a:lnTo>
                    <a:pt x="51394" y="1943496"/>
                  </a:lnTo>
                  <a:cubicBezTo>
                    <a:pt x="37764" y="1943496"/>
                    <a:pt x="24691" y="1938082"/>
                    <a:pt x="15053" y="1928443"/>
                  </a:cubicBezTo>
                  <a:cubicBezTo>
                    <a:pt x="5415" y="1918805"/>
                    <a:pt x="0" y="1905733"/>
                    <a:pt x="0" y="1892102"/>
                  </a:cubicBezTo>
                  <a:lnTo>
                    <a:pt x="0" y="51394"/>
                  </a:lnTo>
                  <a:cubicBezTo>
                    <a:pt x="0" y="37764"/>
                    <a:pt x="5415" y="24691"/>
                    <a:pt x="15053" y="15053"/>
                  </a:cubicBezTo>
                  <a:cubicBezTo>
                    <a:pt x="24691" y="5415"/>
                    <a:pt x="37764" y="0"/>
                    <a:pt x="5139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85369" cy="2000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71105" y="4175639"/>
            <a:ext cx="5492923" cy="5492923"/>
          </a:xfrm>
          <a:custGeom>
            <a:avLst/>
            <a:gdLst/>
            <a:ahLst/>
            <a:cxnLst/>
            <a:rect r="r" b="b" t="t" l="l"/>
            <a:pathLst>
              <a:path h="5492923" w="5492923">
                <a:moveTo>
                  <a:pt x="0" y="0"/>
                </a:moveTo>
                <a:lnTo>
                  <a:pt x="5492923" y="0"/>
                </a:lnTo>
                <a:lnTo>
                  <a:pt x="5492923" y="5492922"/>
                </a:lnTo>
                <a:lnTo>
                  <a:pt x="0" y="5492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50865" y="5143500"/>
            <a:ext cx="2933402" cy="2933402"/>
          </a:xfrm>
          <a:custGeom>
            <a:avLst/>
            <a:gdLst/>
            <a:ahLst/>
            <a:cxnLst/>
            <a:rect r="r" b="b" t="t" l="l"/>
            <a:pathLst>
              <a:path h="2933402" w="2933402">
                <a:moveTo>
                  <a:pt x="0" y="0"/>
                </a:moveTo>
                <a:lnTo>
                  <a:pt x="2933402" y="0"/>
                </a:lnTo>
                <a:lnTo>
                  <a:pt x="2933402" y="2933402"/>
                </a:lnTo>
                <a:lnTo>
                  <a:pt x="0" y="2933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454" t="-16945" r="-69094" b="-2258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90755" y="829964"/>
            <a:ext cx="3761170" cy="7732355"/>
          </a:xfrm>
          <a:custGeom>
            <a:avLst/>
            <a:gdLst/>
            <a:ahLst/>
            <a:cxnLst/>
            <a:rect r="r" b="b" t="t" l="l"/>
            <a:pathLst>
              <a:path h="7732355" w="3761170">
                <a:moveTo>
                  <a:pt x="0" y="0"/>
                </a:moveTo>
                <a:lnTo>
                  <a:pt x="3761171" y="0"/>
                </a:lnTo>
                <a:lnTo>
                  <a:pt x="3761171" y="7732355"/>
                </a:lnTo>
                <a:lnTo>
                  <a:pt x="0" y="7732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8481" y="510765"/>
            <a:ext cx="3970481" cy="51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3"/>
              </a:lnSpc>
            </a:pPr>
            <a:r>
              <a:rPr lang="en-US" sz="283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CONFIGURATION 3CX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7701" y="1638914"/>
            <a:ext cx="6786374" cy="528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42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1. Configuration locale</a:t>
            </a:r>
          </a:p>
          <a:p>
            <a:pPr algn="l">
              <a:lnSpc>
                <a:spcPts val="5950"/>
              </a:lnSpc>
            </a:pPr>
          </a:p>
          <a:p>
            <a:pPr algn="l">
              <a:lnSpc>
                <a:spcPts val="5950"/>
              </a:lnSpc>
            </a:pPr>
            <a:r>
              <a:rPr lang="en-US" sz="42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42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.1. Création d’utilisateur</a:t>
            </a:r>
          </a:p>
          <a:p>
            <a:pPr algn="l">
              <a:lnSpc>
                <a:spcPts val="5950"/>
              </a:lnSpc>
            </a:pPr>
            <a:r>
              <a:rPr lang="en-US" sz="42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42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.2. Ajout des 3CX phone</a:t>
            </a:r>
          </a:p>
          <a:p>
            <a:pPr algn="l">
              <a:lnSpc>
                <a:spcPts val="5950"/>
              </a:lnSpc>
            </a:pPr>
            <a:r>
              <a:rPr lang="en-US" sz="42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42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.3. Test</a:t>
            </a:r>
          </a:p>
          <a:p>
            <a:pPr algn="l">
              <a:lnSpc>
                <a:spcPts val="5950"/>
              </a:lnSpc>
            </a:pPr>
            <a:r>
              <a:rPr lang="en-US" sz="42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1.4. Ajout des groupes</a:t>
            </a:r>
          </a:p>
          <a:p>
            <a:pPr algn="l">
              <a:lnSpc>
                <a:spcPts val="5950"/>
              </a:lnSpc>
            </a:pPr>
            <a:r>
              <a:rPr lang="en-US" sz="42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1.5. Test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876" y="1522217"/>
            <a:ext cx="11787177" cy="8307829"/>
          </a:xfrm>
          <a:custGeom>
            <a:avLst/>
            <a:gdLst/>
            <a:ahLst/>
            <a:cxnLst/>
            <a:rect r="r" b="b" t="t" l="l"/>
            <a:pathLst>
              <a:path h="8307829" w="11787177">
                <a:moveTo>
                  <a:pt x="0" y="0"/>
                </a:moveTo>
                <a:lnTo>
                  <a:pt x="11787177" y="0"/>
                </a:lnTo>
                <a:lnTo>
                  <a:pt x="11787177" y="8307830"/>
                </a:lnTo>
                <a:lnTo>
                  <a:pt x="0" y="8307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127" y="506729"/>
            <a:ext cx="10014510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DU RÉSEAU INTERNE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09127" y="3705266"/>
            <a:ext cx="1930437" cy="1216175"/>
          </a:xfrm>
          <a:custGeom>
            <a:avLst/>
            <a:gdLst/>
            <a:ahLst/>
            <a:cxnLst/>
            <a:rect r="r" b="b" t="t" l="l"/>
            <a:pathLst>
              <a:path h="1216175" w="1930437">
                <a:moveTo>
                  <a:pt x="0" y="0"/>
                </a:moveTo>
                <a:lnTo>
                  <a:pt x="1930437" y="0"/>
                </a:lnTo>
                <a:lnTo>
                  <a:pt x="1930437" y="1216175"/>
                </a:lnTo>
                <a:lnTo>
                  <a:pt x="0" y="1216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30804" y="2734538"/>
            <a:ext cx="1896369" cy="1194713"/>
          </a:xfrm>
          <a:custGeom>
            <a:avLst/>
            <a:gdLst/>
            <a:ahLst/>
            <a:cxnLst/>
            <a:rect r="r" b="b" t="t" l="l"/>
            <a:pathLst>
              <a:path h="1194713" w="1896369">
                <a:moveTo>
                  <a:pt x="0" y="0"/>
                </a:moveTo>
                <a:lnTo>
                  <a:pt x="1896369" y="0"/>
                </a:lnTo>
                <a:lnTo>
                  <a:pt x="1896369" y="1194713"/>
                </a:lnTo>
                <a:lnTo>
                  <a:pt x="0" y="1194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15252" y="3624872"/>
            <a:ext cx="1813964" cy="1142798"/>
          </a:xfrm>
          <a:custGeom>
            <a:avLst/>
            <a:gdLst/>
            <a:ahLst/>
            <a:cxnLst/>
            <a:rect r="r" b="b" t="t" l="l"/>
            <a:pathLst>
              <a:path h="1142798" w="1813964">
                <a:moveTo>
                  <a:pt x="0" y="0"/>
                </a:moveTo>
                <a:lnTo>
                  <a:pt x="1813964" y="0"/>
                </a:lnTo>
                <a:lnTo>
                  <a:pt x="1813964" y="1142797"/>
                </a:lnTo>
                <a:lnTo>
                  <a:pt x="0" y="1142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9062" y="6594564"/>
            <a:ext cx="2561003" cy="1354131"/>
          </a:xfrm>
          <a:custGeom>
            <a:avLst/>
            <a:gdLst/>
            <a:ahLst/>
            <a:cxnLst/>
            <a:rect r="r" b="b" t="t" l="l"/>
            <a:pathLst>
              <a:path h="1354131" w="2561003">
                <a:moveTo>
                  <a:pt x="0" y="0"/>
                </a:moveTo>
                <a:lnTo>
                  <a:pt x="2561004" y="0"/>
                </a:lnTo>
                <a:lnTo>
                  <a:pt x="2561004" y="1354131"/>
                </a:lnTo>
                <a:lnTo>
                  <a:pt x="0" y="1354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889301" y="4617010"/>
            <a:ext cx="8019010" cy="3572836"/>
            <a:chOff x="0" y="0"/>
            <a:chExt cx="2594226" cy="11558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94226" cy="1155846"/>
            </a:xfrm>
            <a:custGeom>
              <a:avLst/>
              <a:gdLst/>
              <a:ahLst/>
              <a:cxnLst/>
              <a:rect r="r" b="b" t="t" l="l"/>
              <a:pathLst>
                <a:path h="1155846" w="2594226">
                  <a:moveTo>
                    <a:pt x="49238" y="0"/>
                  </a:moveTo>
                  <a:lnTo>
                    <a:pt x="2544988" y="0"/>
                  </a:lnTo>
                  <a:cubicBezTo>
                    <a:pt x="2572182" y="0"/>
                    <a:pt x="2594226" y="22044"/>
                    <a:pt x="2594226" y="49238"/>
                  </a:cubicBezTo>
                  <a:lnTo>
                    <a:pt x="2594226" y="1106609"/>
                  </a:lnTo>
                  <a:cubicBezTo>
                    <a:pt x="2594226" y="1119667"/>
                    <a:pt x="2589039" y="1132191"/>
                    <a:pt x="2579805" y="1141425"/>
                  </a:cubicBezTo>
                  <a:cubicBezTo>
                    <a:pt x="2570571" y="1150659"/>
                    <a:pt x="2558047" y="1155846"/>
                    <a:pt x="2544988" y="1155846"/>
                  </a:cubicBezTo>
                  <a:lnTo>
                    <a:pt x="49238" y="1155846"/>
                  </a:lnTo>
                  <a:cubicBezTo>
                    <a:pt x="36179" y="1155846"/>
                    <a:pt x="23655" y="1150659"/>
                    <a:pt x="14421" y="1141425"/>
                  </a:cubicBezTo>
                  <a:cubicBezTo>
                    <a:pt x="5188" y="1132191"/>
                    <a:pt x="0" y="1119667"/>
                    <a:pt x="0" y="1106609"/>
                  </a:cubicBezTo>
                  <a:lnTo>
                    <a:pt x="0" y="49238"/>
                  </a:lnTo>
                  <a:cubicBezTo>
                    <a:pt x="0" y="36179"/>
                    <a:pt x="5188" y="23655"/>
                    <a:pt x="14421" y="14421"/>
                  </a:cubicBezTo>
                  <a:cubicBezTo>
                    <a:pt x="23655" y="5188"/>
                    <a:pt x="36179" y="0"/>
                    <a:pt x="4923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594226" cy="1212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20837" y="4900383"/>
            <a:ext cx="7470239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réalisation de cette architecture repose sur 3 points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configuration des postes Windows 7 &amp; Windows server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L’interfaçage des postes dans le même réseau local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 teste de connectivité dans le réseau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2524" y="2226724"/>
            <a:ext cx="16426776" cy="6919779"/>
          </a:xfrm>
          <a:custGeom>
            <a:avLst/>
            <a:gdLst/>
            <a:ahLst/>
            <a:cxnLst/>
            <a:rect r="r" b="b" t="t" l="l"/>
            <a:pathLst>
              <a:path h="6919779" w="16426776">
                <a:moveTo>
                  <a:pt x="0" y="0"/>
                </a:moveTo>
                <a:lnTo>
                  <a:pt x="16426776" y="0"/>
                </a:lnTo>
                <a:lnTo>
                  <a:pt x="16426776" y="6919780"/>
                </a:lnTo>
                <a:lnTo>
                  <a:pt x="0" y="6919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2524" y="418420"/>
            <a:ext cx="7915329" cy="7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D’UTILISATEUR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736" y="1028700"/>
            <a:ext cx="8575824" cy="6308806"/>
          </a:xfrm>
          <a:custGeom>
            <a:avLst/>
            <a:gdLst/>
            <a:ahLst/>
            <a:cxnLst/>
            <a:rect r="r" b="b" t="t" l="l"/>
            <a:pathLst>
              <a:path h="6308806" w="8575824">
                <a:moveTo>
                  <a:pt x="0" y="0"/>
                </a:moveTo>
                <a:lnTo>
                  <a:pt x="8575824" y="0"/>
                </a:lnTo>
                <a:lnTo>
                  <a:pt x="8575824" y="6308806"/>
                </a:lnTo>
                <a:lnTo>
                  <a:pt x="0" y="6308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192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84272" y="3472397"/>
            <a:ext cx="11549890" cy="5240763"/>
          </a:xfrm>
          <a:custGeom>
            <a:avLst/>
            <a:gdLst/>
            <a:ahLst/>
            <a:cxnLst/>
            <a:rect r="r" b="b" t="t" l="l"/>
            <a:pathLst>
              <a:path h="5240763" w="11549890">
                <a:moveTo>
                  <a:pt x="0" y="0"/>
                </a:moveTo>
                <a:lnTo>
                  <a:pt x="11549890" y="0"/>
                </a:lnTo>
                <a:lnTo>
                  <a:pt x="11549890" y="5240763"/>
                </a:lnTo>
                <a:lnTo>
                  <a:pt x="0" y="5240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8176" y="462890"/>
            <a:ext cx="7890945" cy="7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D’UTILISATEUR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64293"/>
            <a:ext cx="4561424" cy="8247054"/>
          </a:xfrm>
          <a:custGeom>
            <a:avLst/>
            <a:gdLst/>
            <a:ahLst/>
            <a:cxnLst/>
            <a:rect r="r" b="b" t="t" l="l"/>
            <a:pathLst>
              <a:path h="8247054" w="4561424">
                <a:moveTo>
                  <a:pt x="0" y="0"/>
                </a:moveTo>
                <a:lnTo>
                  <a:pt x="4561424" y="0"/>
                </a:lnTo>
                <a:lnTo>
                  <a:pt x="4561424" y="8247054"/>
                </a:lnTo>
                <a:lnTo>
                  <a:pt x="0" y="8247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640" y="510515"/>
            <a:ext cx="11851666" cy="2836427"/>
          </a:xfrm>
          <a:custGeom>
            <a:avLst/>
            <a:gdLst/>
            <a:ahLst/>
            <a:cxnLst/>
            <a:rect r="r" b="b" t="t" l="l"/>
            <a:pathLst>
              <a:path h="2836427" w="11851666">
                <a:moveTo>
                  <a:pt x="0" y="0"/>
                </a:moveTo>
                <a:lnTo>
                  <a:pt x="11851666" y="0"/>
                </a:lnTo>
                <a:lnTo>
                  <a:pt x="11851666" y="2836427"/>
                </a:lnTo>
                <a:lnTo>
                  <a:pt x="0" y="2836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95801" y="3718275"/>
            <a:ext cx="9174684" cy="6019451"/>
          </a:xfrm>
          <a:custGeom>
            <a:avLst/>
            <a:gdLst/>
            <a:ahLst/>
            <a:cxnLst/>
            <a:rect r="r" b="b" t="t" l="l"/>
            <a:pathLst>
              <a:path h="6019451" w="9174684">
                <a:moveTo>
                  <a:pt x="0" y="0"/>
                </a:moveTo>
                <a:lnTo>
                  <a:pt x="9174684" y="0"/>
                </a:lnTo>
                <a:lnTo>
                  <a:pt x="9174684" y="6019451"/>
                </a:lnTo>
                <a:lnTo>
                  <a:pt x="0" y="6019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8176" y="462890"/>
            <a:ext cx="7890945" cy="7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AJOUT DES 3CX PHONE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>
                  <p14:trim st="0.0000" end="4700.0010"/>
                </p14:media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028700" y="1433933"/>
            <a:ext cx="16230600" cy="7419135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69634" y="299090"/>
            <a:ext cx="1491256" cy="72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7"/>
              </a:lnSpc>
            </a:pPr>
            <a:r>
              <a:rPr lang="en-US" b="true" sz="462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3474" y="1107160"/>
            <a:ext cx="10963998" cy="2917688"/>
          </a:xfrm>
          <a:custGeom>
            <a:avLst/>
            <a:gdLst/>
            <a:ahLst/>
            <a:cxnLst/>
            <a:rect r="r" b="b" t="t" l="l"/>
            <a:pathLst>
              <a:path h="2917688" w="10963998">
                <a:moveTo>
                  <a:pt x="0" y="0"/>
                </a:moveTo>
                <a:lnTo>
                  <a:pt x="10963998" y="0"/>
                </a:lnTo>
                <a:lnTo>
                  <a:pt x="10963998" y="2917688"/>
                </a:lnTo>
                <a:lnTo>
                  <a:pt x="0" y="2917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497" r="-842" b="-3713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82053" y="5329357"/>
            <a:ext cx="8705947" cy="4649182"/>
          </a:xfrm>
          <a:custGeom>
            <a:avLst/>
            <a:gdLst/>
            <a:ahLst/>
            <a:cxnLst/>
            <a:rect r="r" b="b" t="t" l="l"/>
            <a:pathLst>
              <a:path h="4649182" w="8705947">
                <a:moveTo>
                  <a:pt x="0" y="0"/>
                </a:moveTo>
                <a:lnTo>
                  <a:pt x="8705947" y="0"/>
                </a:lnTo>
                <a:lnTo>
                  <a:pt x="8705947" y="4649181"/>
                </a:lnTo>
                <a:lnTo>
                  <a:pt x="0" y="4649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2940" y="4258010"/>
            <a:ext cx="8668892" cy="5720529"/>
          </a:xfrm>
          <a:custGeom>
            <a:avLst/>
            <a:gdLst/>
            <a:ahLst/>
            <a:cxnLst/>
            <a:rect r="r" b="b" t="t" l="l"/>
            <a:pathLst>
              <a:path h="5720529" w="8668892">
                <a:moveTo>
                  <a:pt x="0" y="0"/>
                </a:moveTo>
                <a:lnTo>
                  <a:pt x="8668892" y="0"/>
                </a:lnTo>
                <a:lnTo>
                  <a:pt x="8668892" y="5720528"/>
                </a:lnTo>
                <a:lnTo>
                  <a:pt x="0" y="5720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3474" y="559920"/>
            <a:ext cx="7739879" cy="54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b="true" sz="33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CONFIGURATION GROUPE D’APPEL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>
                  <p14:trim st="0.0000" end="4131.6670"/>
                </p14:media>
              </p:ext>
            </p:extLst>
          </p:nvPr>
        </p:nvPicPr>
        <p:blipFill>
          <a:blip r:embed="rId3"/>
          <a:srcRect l="6409" t="0" r="4557" b="732"/>
          <a:stretch>
            <a:fillRect/>
          </a:stretch>
        </p:blipFill>
        <p:spPr>
          <a:xfrm flipH="false" flipV="false" rot="0">
            <a:off x="1028700" y="1263245"/>
            <a:ext cx="16378136" cy="8347115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13474" y="559920"/>
            <a:ext cx="7739879" cy="54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b="true" sz="33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 GROUPE D’APPEL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5127" y="1413873"/>
            <a:ext cx="7719991" cy="4328740"/>
            <a:chOff x="0" y="0"/>
            <a:chExt cx="2497491" cy="14003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7491" cy="1400389"/>
            </a:xfrm>
            <a:custGeom>
              <a:avLst/>
              <a:gdLst/>
              <a:ahLst/>
              <a:cxnLst/>
              <a:rect r="r" b="b" t="t" l="l"/>
              <a:pathLst>
                <a:path h="1400389" w="2497491">
                  <a:moveTo>
                    <a:pt x="51145" y="0"/>
                  </a:moveTo>
                  <a:lnTo>
                    <a:pt x="2446346" y="0"/>
                  </a:lnTo>
                  <a:cubicBezTo>
                    <a:pt x="2474592" y="0"/>
                    <a:pt x="2497491" y="22898"/>
                    <a:pt x="2497491" y="51145"/>
                  </a:cubicBezTo>
                  <a:lnTo>
                    <a:pt x="2497491" y="1349244"/>
                  </a:lnTo>
                  <a:cubicBezTo>
                    <a:pt x="2497491" y="1362808"/>
                    <a:pt x="2492102" y="1375817"/>
                    <a:pt x="2482511" y="1385409"/>
                  </a:cubicBezTo>
                  <a:cubicBezTo>
                    <a:pt x="2472919" y="1395000"/>
                    <a:pt x="2459910" y="1400389"/>
                    <a:pt x="2446346" y="1400389"/>
                  </a:cubicBezTo>
                  <a:lnTo>
                    <a:pt x="51145" y="1400389"/>
                  </a:lnTo>
                  <a:cubicBezTo>
                    <a:pt x="37580" y="1400389"/>
                    <a:pt x="24572" y="1395000"/>
                    <a:pt x="14980" y="1385409"/>
                  </a:cubicBezTo>
                  <a:cubicBezTo>
                    <a:pt x="5388" y="1375817"/>
                    <a:pt x="0" y="1362808"/>
                    <a:pt x="0" y="1349244"/>
                  </a:cubicBezTo>
                  <a:lnTo>
                    <a:pt x="0" y="51145"/>
                  </a:lnTo>
                  <a:cubicBezTo>
                    <a:pt x="0" y="37580"/>
                    <a:pt x="5388" y="24572"/>
                    <a:pt x="14980" y="14980"/>
                  </a:cubicBezTo>
                  <a:cubicBezTo>
                    <a:pt x="24572" y="5388"/>
                    <a:pt x="37580" y="0"/>
                    <a:pt x="51145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97491" cy="1457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281238" y="2430576"/>
            <a:ext cx="6453343" cy="5078605"/>
          </a:xfrm>
          <a:custGeom>
            <a:avLst/>
            <a:gdLst/>
            <a:ahLst/>
            <a:cxnLst/>
            <a:rect r="r" b="b" t="t" l="l"/>
            <a:pathLst>
              <a:path h="5078605" w="6453343">
                <a:moveTo>
                  <a:pt x="0" y="0"/>
                </a:moveTo>
                <a:lnTo>
                  <a:pt x="6453342" y="0"/>
                </a:lnTo>
                <a:lnTo>
                  <a:pt x="6453342" y="5078605"/>
                </a:lnTo>
                <a:lnTo>
                  <a:pt x="0" y="507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282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33460" y="2988190"/>
            <a:ext cx="1180106" cy="1180106"/>
          </a:xfrm>
          <a:custGeom>
            <a:avLst/>
            <a:gdLst/>
            <a:ahLst/>
            <a:cxnLst/>
            <a:rect r="r" b="b" t="t" l="l"/>
            <a:pathLst>
              <a:path h="1180106" w="1180106">
                <a:moveTo>
                  <a:pt x="0" y="0"/>
                </a:moveTo>
                <a:lnTo>
                  <a:pt x="1180106" y="0"/>
                </a:lnTo>
                <a:lnTo>
                  <a:pt x="1180106" y="1180106"/>
                </a:lnTo>
                <a:lnTo>
                  <a:pt x="0" y="1180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454" t="-16945" r="-69094" b="-2258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8481" y="510765"/>
            <a:ext cx="3970481" cy="51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3"/>
              </a:lnSpc>
            </a:pPr>
            <a:r>
              <a:rPr lang="en-US" sz="283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CONFIGURATION 3CX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8195" y="1737290"/>
            <a:ext cx="7163083" cy="355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Connection à l’extérieur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.1. Architecture interne &amp; externe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2.2. Translation NAT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2.3. Trunk SIP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.4. Test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9127" y="2063542"/>
            <a:ext cx="16233815" cy="8107174"/>
            <a:chOff x="0" y="0"/>
            <a:chExt cx="5251794" cy="26227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51794" cy="2622748"/>
            </a:xfrm>
            <a:custGeom>
              <a:avLst/>
              <a:gdLst/>
              <a:ahLst/>
              <a:cxnLst/>
              <a:rect r="r" b="b" t="t" l="l"/>
              <a:pathLst>
                <a:path h="2622748" w="5251794">
                  <a:moveTo>
                    <a:pt x="24322" y="0"/>
                  </a:moveTo>
                  <a:lnTo>
                    <a:pt x="5227472" y="0"/>
                  </a:lnTo>
                  <a:cubicBezTo>
                    <a:pt x="5233923" y="0"/>
                    <a:pt x="5240109" y="2562"/>
                    <a:pt x="5244671" y="7124"/>
                  </a:cubicBezTo>
                  <a:cubicBezTo>
                    <a:pt x="5249232" y="11685"/>
                    <a:pt x="5251794" y="17871"/>
                    <a:pt x="5251794" y="24322"/>
                  </a:cubicBezTo>
                  <a:lnTo>
                    <a:pt x="5251794" y="2598426"/>
                  </a:lnTo>
                  <a:cubicBezTo>
                    <a:pt x="5251794" y="2611859"/>
                    <a:pt x="5240905" y="2622748"/>
                    <a:pt x="5227472" y="2622748"/>
                  </a:cubicBezTo>
                  <a:lnTo>
                    <a:pt x="24322" y="2622748"/>
                  </a:lnTo>
                  <a:cubicBezTo>
                    <a:pt x="17871" y="2622748"/>
                    <a:pt x="11685" y="2620186"/>
                    <a:pt x="7124" y="2615624"/>
                  </a:cubicBezTo>
                  <a:cubicBezTo>
                    <a:pt x="2562" y="2611063"/>
                    <a:pt x="0" y="2604877"/>
                    <a:pt x="0" y="2598426"/>
                  </a:cubicBezTo>
                  <a:lnTo>
                    <a:pt x="0" y="24322"/>
                  </a:lnTo>
                  <a:cubicBezTo>
                    <a:pt x="0" y="17871"/>
                    <a:pt x="2562" y="11685"/>
                    <a:pt x="7124" y="7124"/>
                  </a:cubicBezTo>
                  <a:cubicBezTo>
                    <a:pt x="11685" y="2562"/>
                    <a:pt x="17871" y="0"/>
                    <a:pt x="24322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251794" cy="2679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8583" y="2233716"/>
            <a:ext cx="16014359" cy="7847036"/>
          </a:xfrm>
          <a:custGeom>
            <a:avLst/>
            <a:gdLst/>
            <a:ahLst/>
            <a:cxnLst/>
            <a:rect r="r" b="b" t="t" l="l"/>
            <a:pathLst>
              <a:path h="7847036" w="16014359">
                <a:moveTo>
                  <a:pt x="0" y="0"/>
                </a:moveTo>
                <a:lnTo>
                  <a:pt x="16014359" y="0"/>
                </a:lnTo>
                <a:lnTo>
                  <a:pt x="16014359" y="7847036"/>
                </a:lnTo>
                <a:lnTo>
                  <a:pt x="0" y="78470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9127" y="592454"/>
            <a:ext cx="15805099" cy="76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795"/>
              </a:lnSpc>
              <a:spcBef>
                <a:spcPct val="0"/>
              </a:spcBef>
            </a:pPr>
            <a:r>
              <a:rPr lang="en-US" b="true" sz="487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DES RÉSEAUX INTERNE ET EXTERNE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83177"/>
            <a:ext cx="6348812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L’objectif ici était de mettre en place un NAT entre les 2 réseaux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 configurer un trunk SIP et de tester les appels externe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9127" y="858012"/>
            <a:ext cx="6845975" cy="2080768"/>
            <a:chOff x="0" y="0"/>
            <a:chExt cx="2214738" cy="6731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4738" cy="673148"/>
            </a:xfrm>
            <a:custGeom>
              <a:avLst/>
              <a:gdLst/>
              <a:ahLst/>
              <a:cxnLst/>
              <a:rect r="r" b="b" t="t" l="l"/>
              <a:pathLst>
                <a:path h="673148" w="2214738">
                  <a:moveTo>
                    <a:pt x="57674" y="0"/>
                  </a:moveTo>
                  <a:lnTo>
                    <a:pt x="2157064" y="0"/>
                  </a:lnTo>
                  <a:cubicBezTo>
                    <a:pt x="2172360" y="0"/>
                    <a:pt x="2187030" y="6076"/>
                    <a:pt x="2197846" y="16892"/>
                  </a:cubicBezTo>
                  <a:cubicBezTo>
                    <a:pt x="2208662" y="27709"/>
                    <a:pt x="2214738" y="42378"/>
                    <a:pt x="2214738" y="57674"/>
                  </a:cubicBezTo>
                  <a:lnTo>
                    <a:pt x="2214738" y="615474"/>
                  </a:lnTo>
                  <a:cubicBezTo>
                    <a:pt x="2214738" y="630770"/>
                    <a:pt x="2208662" y="645440"/>
                    <a:pt x="2197846" y="656256"/>
                  </a:cubicBezTo>
                  <a:cubicBezTo>
                    <a:pt x="2187030" y="667072"/>
                    <a:pt x="2172360" y="673148"/>
                    <a:pt x="2157064" y="673148"/>
                  </a:cubicBezTo>
                  <a:lnTo>
                    <a:pt x="57674" y="673148"/>
                  </a:lnTo>
                  <a:cubicBezTo>
                    <a:pt x="42378" y="673148"/>
                    <a:pt x="27709" y="667072"/>
                    <a:pt x="16892" y="656256"/>
                  </a:cubicBezTo>
                  <a:cubicBezTo>
                    <a:pt x="6076" y="645440"/>
                    <a:pt x="0" y="630770"/>
                    <a:pt x="0" y="615474"/>
                  </a:cubicBezTo>
                  <a:lnTo>
                    <a:pt x="0" y="57674"/>
                  </a:lnTo>
                  <a:cubicBezTo>
                    <a:pt x="0" y="42378"/>
                    <a:pt x="6076" y="27709"/>
                    <a:pt x="16892" y="16892"/>
                  </a:cubicBezTo>
                  <a:cubicBezTo>
                    <a:pt x="27709" y="6076"/>
                    <a:pt x="42378" y="0"/>
                    <a:pt x="5767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214738" cy="730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09127" y="3500755"/>
            <a:ext cx="13495658" cy="5415133"/>
          </a:xfrm>
          <a:custGeom>
            <a:avLst/>
            <a:gdLst/>
            <a:ahLst/>
            <a:cxnLst/>
            <a:rect r="r" b="b" t="t" l="l"/>
            <a:pathLst>
              <a:path h="5415133" w="13495658">
                <a:moveTo>
                  <a:pt x="0" y="0"/>
                </a:moveTo>
                <a:lnTo>
                  <a:pt x="13495659" y="0"/>
                </a:lnTo>
                <a:lnTo>
                  <a:pt x="13495659" y="5415133"/>
                </a:lnTo>
                <a:lnTo>
                  <a:pt x="0" y="5415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9127" y="333755"/>
            <a:ext cx="7148779" cy="34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17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DES RÉSEAUX INTERNE ET EXTERNE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7709" y="1178941"/>
            <a:ext cx="6348812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configuration du deuxième réseau reprend la même celle du premier a ceci prêt des points suivants :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7166" y="1074890"/>
            <a:ext cx="13450171" cy="3782860"/>
          </a:xfrm>
          <a:custGeom>
            <a:avLst/>
            <a:gdLst/>
            <a:ahLst/>
            <a:cxnLst/>
            <a:rect r="r" b="b" t="t" l="l"/>
            <a:pathLst>
              <a:path h="3782860" w="13450171">
                <a:moveTo>
                  <a:pt x="0" y="0"/>
                </a:moveTo>
                <a:lnTo>
                  <a:pt x="13450171" y="0"/>
                </a:lnTo>
                <a:lnTo>
                  <a:pt x="13450171" y="3782860"/>
                </a:lnTo>
                <a:lnTo>
                  <a:pt x="0" y="3782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166" y="5029200"/>
            <a:ext cx="11301259" cy="2514530"/>
          </a:xfrm>
          <a:custGeom>
            <a:avLst/>
            <a:gdLst/>
            <a:ahLst/>
            <a:cxnLst/>
            <a:rect r="r" b="b" t="t" l="l"/>
            <a:pathLst>
              <a:path h="2514530" w="11301259">
                <a:moveTo>
                  <a:pt x="0" y="0"/>
                </a:moveTo>
                <a:lnTo>
                  <a:pt x="11301259" y="0"/>
                </a:lnTo>
                <a:lnTo>
                  <a:pt x="11301259" y="2514530"/>
                </a:lnTo>
                <a:lnTo>
                  <a:pt x="0" y="251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34318" y="3252070"/>
            <a:ext cx="6458375" cy="6925246"/>
          </a:xfrm>
          <a:custGeom>
            <a:avLst/>
            <a:gdLst/>
            <a:ahLst/>
            <a:cxnLst/>
            <a:rect r="r" b="b" t="t" l="l"/>
            <a:pathLst>
              <a:path h="6925246" w="6458375">
                <a:moveTo>
                  <a:pt x="0" y="0"/>
                </a:moveTo>
                <a:lnTo>
                  <a:pt x="6458376" y="0"/>
                </a:lnTo>
                <a:lnTo>
                  <a:pt x="6458376" y="6925246"/>
                </a:lnTo>
                <a:lnTo>
                  <a:pt x="0" y="6925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9127" y="297179"/>
            <a:ext cx="6295339" cy="76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795"/>
              </a:lnSpc>
              <a:spcBef>
                <a:spcPct val="0"/>
              </a:spcBef>
            </a:pPr>
            <a:r>
              <a:rPr lang="en-US" b="true" sz="487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TRANSLATION NAT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20205" y="4256818"/>
            <a:ext cx="5139095" cy="2083604"/>
            <a:chOff x="0" y="0"/>
            <a:chExt cx="1662546" cy="6740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2546" cy="674066"/>
            </a:xfrm>
            <a:custGeom>
              <a:avLst/>
              <a:gdLst/>
              <a:ahLst/>
              <a:cxnLst/>
              <a:rect r="r" b="b" t="t" l="l"/>
              <a:pathLst>
                <a:path h="674066" w="1662546">
                  <a:moveTo>
                    <a:pt x="76830" y="0"/>
                  </a:moveTo>
                  <a:lnTo>
                    <a:pt x="1585716" y="0"/>
                  </a:lnTo>
                  <a:cubicBezTo>
                    <a:pt x="1606093" y="0"/>
                    <a:pt x="1625635" y="8095"/>
                    <a:pt x="1640043" y="22503"/>
                  </a:cubicBezTo>
                  <a:cubicBezTo>
                    <a:pt x="1654452" y="36912"/>
                    <a:pt x="1662546" y="56454"/>
                    <a:pt x="1662546" y="76830"/>
                  </a:cubicBezTo>
                  <a:lnTo>
                    <a:pt x="1662546" y="597235"/>
                  </a:lnTo>
                  <a:cubicBezTo>
                    <a:pt x="1662546" y="617612"/>
                    <a:pt x="1654452" y="637154"/>
                    <a:pt x="1640043" y="651563"/>
                  </a:cubicBezTo>
                  <a:cubicBezTo>
                    <a:pt x="1625635" y="665971"/>
                    <a:pt x="1606093" y="674066"/>
                    <a:pt x="1585716" y="674066"/>
                  </a:cubicBezTo>
                  <a:lnTo>
                    <a:pt x="76830" y="674066"/>
                  </a:lnTo>
                  <a:cubicBezTo>
                    <a:pt x="56454" y="674066"/>
                    <a:pt x="36912" y="665971"/>
                    <a:pt x="22503" y="651563"/>
                  </a:cubicBezTo>
                  <a:cubicBezTo>
                    <a:pt x="8095" y="637154"/>
                    <a:pt x="0" y="617612"/>
                    <a:pt x="0" y="597235"/>
                  </a:cubicBezTo>
                  <a:lnTo>
                    <a:pt x="0" y="76830"/>
                  </a:lnTo>
                  <a:cubicBezTo>
                    <a:pt x="0" y="56454"/>
                    <a:pt x="8095" y="36912"/>
                    <a:pt x="22503" y="22503"/>
                  </a:cubicBezTo>
                  <a:cubicBezTo>
                    <a:pt x="36912" y="8095"/>
                    <a:pt x="56454" y="0"/>
                    <a:pt x="7683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62546" cy="731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9127" y="592454"/>
            <a:ext cx="3693979" cy="76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795"/>
              </a:lnSpc>
              <a:spcBef>
                <a:spcPct val="0"/>
              </a:spcBef>
            </a:pPr>
            <a:r>
              <a:rPr lang="en-US" b="true" sz="487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TRUNK SIP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444" y="1341885"/>
            <a:ext cx="8717556" cy="5829866"/>
          </a:xfrm>
          <a:custGeom>
            <a:avLst/>
            <a:gdLst/>
            <a:ahLst/>
            <a:cxnLst/>
            <a:rect r="r" b="b" t="t" l="l"/>
            <a:pathLst>
              <a:path h="5829866" w="8717556">
                <a:moveTo>
                  <a:pt x="0" y="0"/>
                </a:moveTo>
                <a:lnTo>
                  <a:pt x="8717556" y="0"/>
                </a:lnTo>
                <a:lnTo>
                  <a:pt x="8717556" y="5829866"/>
                </a:lnTo>
                <a:lnTo>
                  <a:pt x="0" y="5829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96488" y="1341885"/>
            <a:ext cx="8009028" cy="2546438"/>
          </a:xfrm>
          <a:custGeom>
            <a:avLst/>
            <a:gdLst/>
            <a:ahLst/>
            <a:cxnLst/>
            <a:rect r="r" b="b" t="t" l="l"/>
            <a:pathLst>
              <a:path h="2546438" w="8009028">
                <a:moveTo>
                  <a:pt x="0" y="0"/>
                </a:moveTo>
                <a:lnTo>
                  <a:pt x="8009028" y="0"/>
                </a:lnTo>
                <a:lnTo>
                  <a:pt x="8009028" y="2546438"/>
                </a:lnTo>
                <a:lnTo>
                  <a:pt x="0" y="2546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" r="-2531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281689" y="4806755"/>
            <a:ext cx="4816126" cy="90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  <a:spcBef>
                <a:spcPct val="0"/>
              </a:spcBef>
            </a:pPr>
            <a:r>
              <a:rPr lang="en-US" b="true" sz="25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noter que le Registrar c’est l'IP ou le liens du 3CX distant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9127" y="1551478"/>
            <a:ext cx="10113431" cy="4059430"/>
            <a:chOff x="0" y="0"/>
            <a:chExt cx="3271792" cy="1313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71792" cy="1313264"/>
            </a:xfrm>
            <a:custGeom>
              <a:avLst/>
              <a:gdLst/>
              <a:ahLst/>
              <a:cxnLst/>
              <a:rect r="r" b="b" t="t" l="l"/>
              <a:pathLst>
                <a:path h="1313264" w="3271792">
                  <a:moveTo>
                    <a:pt x="39041" y="0"/>
                  </a:moveTo>
                  <a:lnTo>
                    <a:pt x="3232751" y="0"/>
                  </a:lnTo>
                  <a:cubicBezTo>
                    <a:pt x="3243105" y="0"/>
                    <a:pt x="3253036" y="4113"/>
                    <a:pt x="3260357" y="11435"/>
                  </a:cubicBezTo>
                  <a:cubicBezTo>
                    <a:pt x="3267678" y="18756"/>
                    <a:pt x="3271792" y="28687"/>
                    <a:pt x="3271792" y="39041"/>
                  </a:cubicBezTo>
                  <a:lnTo>
                    <a:pt x="3271792" y="1274223"/>
                  </a:lnTo>
                  <a:cubicBezTo>
                    <a:pt x="3271792" y="1284578"/>
                    <a:pt x="3267678" y="1294508"/>
                    <a:pt x="3260357" y="1301830"/>
                  </a:cubicBezTo>
                  <a:cubicBezTo>
                    <a:pt x="3253036" y="1309151"/>
                    <a:pt x="3243105" y="1313264"/>
                    <a:pt x="3232751" y="1313264"/>
                  </a:cubicBezTo>
                  <a:lnTo>
                    <a:pt x="39041" y="1313264"/>
                  </a:lnTo>
                  <a:cubicBezTo>
                    <a:pt x="28687" y="1313264"/>
                    <a:pt x="18756" y="1309151"/>
                    <a:pt x="11435" y="1301830"/>
                  </a:cubicBezTo>
                  <a:cubicBezTo>
                    <a:pt x="4113" y="1294508"/>
                    <a:pt x="0" y="1284578"/>
                    <a:pt x="0" y="1274223"/>
                  </a:cubicBezTo>
                  <a:lnTo>
                    <a:pt x="0" y="39041"/>
                  </a:lnTo>
                  <a:cubicBezTo>
                    <a:pt x="0" y="28687"/>
                    <a:pt x="4113" y="18756"/>
                    <a:pt x="11435" y="11435"/>
                  </a:cubicBezTo>
                  <a:cubicBezTo>
                    <a:pt x="18756" y="4113"/>
                    <a:pt x="28687" y="0"/>
                    <a:pt x="3904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271792" cy="137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1550" y="1360640"/>
            <a:ext cx="7358051" cy="1637166"/>
          </a:xfrm>
          <a:custGeom>
            <a:avLst/>
            <a:gdLst/>
            <a:ahLst/>
            <a:cxnLst/>
            <a:rect r="r" b="b" t="t" l="l"/>
            <a:pathLst>
              <a:path h="1637166" w="7358051">
                <a:moveTo>
                  <a:pt x="0" y="0"/>
                </a:moveTo>
                <a:lnTo>
                  <a:pt x="7358051" y="0"/>
                </a:lnTo>
                <a:lnTo>
                  <a:pt x="7358051" y="1637166"/>
                </a:lnTo>
                <a:lnTo>
                  <a:pt x="0" y="1637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95795" y="3243830"/>
            <a:ext cx="11346087" cy="6774062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9439893" y="1994819"/>
            <a:ext cx="8160946" cy="1002987"/>
          </a:xfrm>
          <a:custGeom>
            <a:avLst/>
            <a:gdLst/>
            <a:ahLst/>
            <a:cxnLst/>
            <a:rect r="r" b="b" t="t" l="l"/>
            <a:pathLst>
              <a:path h="1002987" w="8160946">
                <a:moveTo>
                  <a:pt x="0" y="0"/>
                </a:moveTo>
                <a:lnTo>
                  <a:pt x="8160946" y="0"/>
                </a:lnTo>
                <a:lnTo>
                  <a:pt x="8160946" y="1002987"/>
                </a:lnTo>
                <a:lnTo>
                  <a:pt x="0" y="1002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847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9127" y="592454"/>
            <a:ext cx="3930091" cy="76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795"/>
              </a:lnSpc>
              <a:spcBef>
                <a:spcPct val="0"/>
              </a:spcBef>
            </a:pPr>
            <a:r>
              <a:rPr lang="en-US" b="true" sz="487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39180" y="3685294"/>
            <a:ext cx="12081909" cy="2916413"/>
          </a:xfrm>
          <a:custGeom>
            <a:avLst/>
            <a:gdLst/>
            <a:ahLst/>
            <a:cxnLst/>
            <a:rect r="r" b="b" t="t" l="l"/>
            <a:pathLst>
              <a:path h="2916413" w="12081909">
                <a:moveTo>
                  <a:pt x="0" y="0"/>
                </a:moveTo>
                <a:lnTo>
                  <a:pt x="12081909" y="0"/>
                </a:lnTo>
                <a:lnTo>
                  <a:pt x="12081909" y="2916412"/>
                </a:lnTo>
                <a:lnTo>
                  <a:pt x="0" y="2916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73959" y="4038765"/>
            <a:ext cx="10687769" cy="110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0"/>
              </a:lnSpc>
            </a:pPr>
            <a:r>
              <a:rPr lang="en-US" sz="737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SÉCURISATION DU RÉSEAU: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08969" y="5153025"/>
            <a:ext cx="12423977" cy="110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0"/>
              </a:lnSpc>
            </a:pPr>
            <a:r>
              <a:rPr lang="en-US" sz="737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INTÉGRATION DU PARE-FEU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8434" y="1370630"/>
            <a:ext cx="14862783" cy="6958803"/>
            <a:chOff x="0" y="0"/>
            <a:chExt cx="4808252" cy="22512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2251239"/>
            </a:xfrm>
            <a:custGeom>
              <a:avLst/>
              <a:gdLst/>
              <a:ahLst/>
              <a:cxnLst/>
              <a:rect r="r" b="b" t="t" l="l"/>
              <a:pathLst>
                <a:path h="2251239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224674"/>
                  </a:lnTo>
                  <a:cubicBezTo>
                    <a:pt x="4808252" y="2231719"/>
                    <a:pt x="4805454" y="2238477"/>
                    <a:pt x="4800471" y="2243458"/>
                  </a:cubicBezTo>
                  <a:cubicBezTo>
                    <a:pt x="4795489" y="2248440"/>
                    <a:pt x="4788733" y="2251239"/>
                    <a:pt x="4781687" y="2251239"/>
                  </a:cubicBezTo>
                  <a:lnTo>
                    <a:pt x="26566" y="2251239"/>
                  </a:lnTo>
                  <a:cubicBezTo>
                    <a:pt x="19520" y="2251239"/>
                    <a:pt x="12763" y="2248440"/>
                    <a:pt x="7781" y="2243458"/>
                  </a:cubicBezTo>
                  <a:cubicBezTo>
                    <a:pt x="2799" y="2238477"/>
                    <a:pt x="0" y="2231719"/>
                    <a:pt x="0" y="2224674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2308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6240" y="3195481"/>
            <a:ext cx="5188492" cy="3936097"/>
          </a:xfrm>
          <a:custGeom>
            <a:avLst/>
            <a:gdLst/>
            <a:ahLst/>
            <a:cxnLst/>
            <a:rect r="r" b="b" t="t" l="l"/>
            <a:pathLst>
              <a:path h="3936097" w="5188492">
                <a:moveTo>
                  <a:pt x="0" y="0"/>
                </a:moveTo>
                <a:lnTo>
                  <a:pt x="5188492" y="0"/>
                </a:lnTo>
                <a:lnTo>
                  <a:pt x="5188492" y="3936098"/>
                </a:lnTo>
                <a:lnTo>
                  <a:pt x="0" y="393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07494" y="2976406"/>
            <a:ext cx="4537753" cy="4334187"/>
          </a:xfrm>
          <a:custGeom>
            <a:avLst/>
            <a:gdLst/>
            <a:ahLst/>
            <a:cxnLst/>
            <a:rect r="r" b="b" t="t" l="l"/>
            <a:pathLst>
              <a:path h="4334187" w="4537753">
                <a:moveTo>
                  <a:pt x="0" y="0"/>
                </a:moveTo>
                <a:lnTo>
                  <a:pt x="4537753" y="0"/>
                </a:lnTo>
                <a:lnTo>
                  <a:pt x="4537753" y="4334188"/>
                </a:lnTo>
                <a:lnTo>
                  <a:pt x="0" y="433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7" t="0" r="-32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23595" y="2478112"/>
            <a:ext cx="6236497" cy="49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SITE 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26999" y="2478112"/>
            <a:ext cx="6236497" cy="49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SITE 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23329" y="1586677"/>
            <a:ext cx="6236497" cy="50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Configuré système 3CX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60091" y="1586677"/>
            <a:ext cx="6236497" cy="50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Mis en place les fonctionnalités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16718" y="2018297"/>
            <a:ext cx="7086214" cy="50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Assuré la connectivité avec l’extérieur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4862783" cy="1947706"/>
            <a:chOff x="0" y="0"/>
            <a:chExt cx="4808252" cy="6301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630102"/>
            </a:xfrm>
            <a:custGeom>
              <a:avLst/>
              <a:gdLst/>
              <a:ahLst/>
              <a:cxnLst/>
              <a:rect r="r" b="b" t="t" l="l"/>
              <a:pathLst>
                <a:path h="630102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603536"/>
                  </a:lnTo>
                  <a:cubicBezTo>
                    <a:pt x="4808252" y="610582"/>
                    <a:pt x="4805454" y="617339"/>
                    <a:pt x="4800471" y="622321"/>
                  </a:cubicBezTo>
                  <a:cubicBezTo>
                    <a:pt x="4795489" y="627303"/>
                    <a:pt x="4788733" y="630102"/>
                    <a:pt x="4781687" y="630102"/>
                  </a:cubicBezTo>
                  <a:lnTo>
                    <a:pt x="26566" y="630102"/>
                  </a:lnTo>
                  <a:cubicBezTo>
                    <a:pt x="19520" y="630102"/>
                    <a:pt x="12763" y="627303"/>
                    <a:pt x="7781" y="622321"/>
                  </a:cubicBezTo>
                  <a:cubicBezTo>
                    <a:pt x="2799" y="617339"/>
                    <a:pt x="0" y="610582"/>
                    <a:pt x="0" y="603536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687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976406"/>
            <a:ext cx="14862783" cy="6238482"/>
            <a:chOff x="0" y="0"/>
            <a:chExt cx="4808252" cy="20182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8252" cy="2018208"/>
            </a:xfrm>
            <a:custGeom>
              <a:avLst/>
              <a:gdLst/>
              <a:ahLst/>
              <a:cxnLst/>
              <a:rect r="r" b="b" t="t" l="l"/>
              <a:pathLst>
                <a:path h="2018208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1991643"/>
                  </a:lnTo>
                  <a:cubicBezTo>
                    <a:pt x="4808252" y="1998688"/>
                    <a:pt x="4805454" y="2005446"/>
                    <a:pt x="4800471" y="2010427"/>
                  </a:cubicBezTo>
                  <a:cubicBezTo>
                    <a:pt x="4795489" y="2015410"/>
                    <a:pt x="4788733" y="2018208"/>
                    <a:pt x="4781687" y="2018208"/>
                  </a:cubicBezTo>
                  <a:lnTo>
                    <a:pt x="26566" y="2018208"/>
                  </a:lnTo>
                  <a:cubicBezTo>
                    <a:pt x="19520" y="2018208"/>
                    <a:pt x="12763" y="2015410"/>
                    <a:pt x="7781" y="2010427"/>
                  </a:cubicBezTo>
                  <a:cubicBezTo>
                    <a:pt x="2799" y="2005446"/>
                    <a:pt x="0" y="1998688"/>
                    <a:pt x="0" y="1991643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8252" cy="2075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566722" y="4845152"/>
            <a:ext cx="5188492" cy="3936097"/>
          </a:xfrm>
          <a:custGeom>
            <a:avLst/>
            <a:gdLst/>
            <a:ahLst/>
            <a:cxnLst/>
            <a:rect r="r" b="b" t="t" l="l"/>
            <a:pathLst>
              <a:path h="3936097" w="5188492">
                <a:moveTo>
                  <a:pt x="0" y="0"/>
                </a:moveTo>
                <a:lnTo>
                  <a:pt x="5188492" y="0"/>
                </a:lnTo>
                <a:lnTo>
                  <a:pt x="5188492" y="3936098"/>
                </a:lnTo>
                <a:lnTo>
                  <a:pt x="0" y="393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07494" y="4447062"/>
            <a:ext cx="4537753" cy="4334187"/>
          </a:xfrm>
          <a:custGeom>
            <a:avLst/>
            <a:gdLst/>
            <a:ahLst/>
            <a:cxnLst/>
            <a:rect r="r" b="b" t="t" l="l"/>
            <a:pathLst>
              <a:path h="4334187" w="4537753">
                <a:moveTo>
                  <a:pt x="0" y="0"/>
                </a:moveTo>
                <a:lnTo>
                  <a:pt x="4537753" y="0"/>
                </a:lnTo>
                <a:lnTo>
                  <a:pt x="4537753" y="4334188"/>
                </a:lnTo>
                <a:lnTo>
                  <a:pt x="0" y="433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7" t="0" r="-32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93983" y="3948768"/>
            <a:ext cx="6236497" cy="49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SITE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26999" y="3948768"/>
            <a:ext cx="6236497" cy="49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SITE 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81796" y="1430997"/>
            <a:ext cx="11356592" cy="114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</a:pPr>
            <a:r>
              <a:rPr lang="en-US" sz="32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Objectif : </a:t>
            </a:r>
          </a:p>
          <a:p>
            <a:pPr algn="ctr">
              <a:lnSpc>
                <a:spcPts val="4594"/>
              </a:lnSpc>
            </a:pPr>
            <a:r>
              <a:rPr lang="en-US" sz="32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Communication bidirectionnelle fluide &amp; sécurisée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09274"/>
            <a:ext cx="14862783" cy="2353424"/>
            <a:chOff x="0" y="0"/>
            <a:chExt cx="4808252" cy="761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761355"/>
            </a:xfrm>
            <a:custGeom>
              <a:avLst/>
              <a:gdLst/>
              <a:ahLst/>
              <a:cxnLst/>
              <a:rect r="r" b="b" t="t" l="l"/>
              <a:pathLst>
                <a:path h="761355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734790"/>
                  </a:lnTo>
                  <a:cubicBezTo>
                    <a:pt x="4808252" y="741835"/>
                    <a:pt x="4805454" y="748592"/>
                    <a:pt x="4800471" y="753574"/>
                  </a:cubicBezTo>
                  <a:cubicBezTo>
                    <a:pt x="4795489" y="758556"/>
                    <a:pt x="4788733" y="761355"/>
                    <a:pt x="4781687" y="761355"/>
                  </a:cubicBezTo>
                  <a:lnTo>
                    <a:pt x="26566" y="761355"/>
                  </a:lnTo>
                  <a:cubicBezTo>
                    <a:pt x="19520" y="761355"/>
                    <a:pt x="12763" y="758556"/>
                    <a:pt x="7781" y="753574"/>
                  </a:cubicBezTo>
                  <a:cubicBezTo>
                    <a:pt x="2799" y="748592"/>
                    <a:pt x="0" y="741835"/>
                    <a:pt x="0" y="734790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818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81796" y="2753181"/>
            <a:ext cx="11356592" cy="114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</a:pPr>
            <a:r>
              <a:rPr lang="en-US" sz="32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Objectif : </a:t>
            </a:r>
          </a:p>
          <a:p>
            <a:pPr algn="ctr">
              <a:lnSpc>
                <a:spcPts val="4594"/>
              </a:lnSpc>
            </a:pPr>
            <a:r>
              <a:rPr lang="en-US" sz="32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Communication bidirectionnelle fluide &amp; sécurisée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4490" y="614735"/>
            <a:ext cx="11505960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5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INTEGRATION DU PARE-FEU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0115" y="5869800"/>
            <a:ext cx="9314365" cy="148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Une barrière entre un réseau interne et l’extérieur</a:t>
            </a:r>
          </a:p>
          <a:p>
            <a:pPr algn="ctr">
              <a:lnSpc>
                <a:spcPts val="3918"/>
              </a:lnSpc>
            </a:pPr>
            <a:r>
              <a:rPr lang="en-US" sz="27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Système de sécurité qui surveille et contrôle le trafic </a:t>
            </a:r>
          </a:p>
          <a:p>
            <a:pPr algn="ctr">
              <a:lnSpc>
                <a:spcPts val="391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547552" y="5057775"/>
            <a:ext cx="1825078" cy="50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  <a:spcBef>
                <a:spcPct val="0"/>
              </a:spcBef>
            </a:pPr>
            <a:r>
              <a:rPr lang="en-US" sz="27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Pare-feu :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8620" y="1930139"/>
            <a:ext cx="16183372" cy="7545740"/>
            <a:chOff x="0" y="0"/>
            <a:chExt cx="5235475" cy="24411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35475" cy="2441119"/>
            </a:xfrm>
            <a:custGeom>
              <a:avLst/>
              <a:gdLst/>
              <a:ahLst/>
              <a:cxnLst/>
              <a:rect r="r" b="b" t="t" l="l"/>
              <a:pathLst>
                <a:path h="2441119" w="5235475">
                  <a:moveTo>
                    <a:pt x="24398" y="0"/>
                  </a:moveTo>
                  <a:lnTo>
                    <a:pt x="5211078" y="0"/>
                  </a:lnTo>
                  <a:cubicBezTo>
                    <a:pt x="5224552" y="0"/>
                    <a:pt x="5235475" y="10923"/>
                    <a:pt x="5235475" y="24398"/>
                  </a:cubicBezTo>
                  <a:lnTo>
                    <a:pt x="5235475" y="2416721"/>
                  </a:lnTo>
                  <a:cubicBezTo>
                    <a:pt x="5235475" y="2430196"/>
                    <a:pt x="5224552" y="2441119"/>
                    <a:pt x="5211078" y="2441119"/>
                  </a:cubicBezTo>
                  <a:lnTo>
                    <a:pt x="24398" y="2441119"/>
                  </a:lnTo>
                  <a:cubicBezTo>
                    <a:pt x="10923" y="2441119"/>
                    <a:pt x="0" y="2430196"/>
                    <a:pt x="0" y="2416721"/>
                  </a:cubicBezTo>
                  <a:lnTo>
                    <a:pt x="0" y="24398"/>
                  </a:lnTo>
                  <a:cubicBezTo>
                    <a:pt x="0" y="10923"/>
                    <a:pt x="10923" y="0"/>
                    <a:pt x="2439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235475" cy="2498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29837" y="2446130"/>
            <a:ext cx="15060710" cy="6513757"/>
          </a:xfrm>
          <a:custGeom>
            <a:avLst/>
            <a:gdLst/>
            <a:ahLst/>
            <a:cxnLst/>
            <a:rect r="r" b="b" t="t" l="l"/>
            <a:pathLst>
              <a:path h="6513757" w="15060710">
                <a:moveTo>
                  <a:pt x="0" y="0"/>
                </a:moveTo>
                <a:lnTo>
                  <a:pt x="15060709" y="0"/>
                </a:lnTo>
                <a:lnTo>
                  <a:pt x="15060709" y="6513757"/>
                </a:lnTo>
                <a:lnTo>
                  <a:pt x="0" y="6513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4490" y="614735"/>
            <a:ext cx="11505960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5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INTEGRATION DU PARE-FEU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09274"/>
            <a:ext cx="14862783" cy="2150655"/>
            <a:chOff x="0" y="0"/>
            <a:chExt cx="4808252" cy="6957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695757"/>
            </a:xfrm>
            <a:custGeom>
              <a:avLst/>
              <a:gdLst/>
              <a:ahLst/>
              <a:cxnLst/>
              <a:rect r="r" b="b" t="t" l="l"/>
              <a:pathLst>
                <a:path h="695757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669192"/>
                  </a:lnTo>
                  <a:cubicBezTo>
                    <a:pt x="4808252" y="676237"/>
                    <a:pt x="4805454" y="682994"/>
                    <a:pt x="4800471" y="687976"/>
                  </a:cubicBezTo>
                  <a:cubicBezTo>
                    <a:pt x="4795489" y="692958"/>
                    <a:pt x="4788733" y="695757"/>
                    <a:pt x="4781687" y="695757"/>
                  </a:cubicBezTo>
                  <a:lnTo>
                    <a:pt x="26566" y="695757"/>
                  </a:lnTo>
                  <a:cubicBezTo>
                    <a:pt x="19520" y="695757"/>
                    <a:pt x="12763" y="692958"/>
                    <a:pt x="7781" y="687976"/>
                  </a:cubicBezTo>
                  <a:cubicBezTo>
                    <a:pt x="2799" y="682994"/>
                    <a:pt x="0" y="676237"/>
                    <a:pt x="0" y="669192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75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6729787">
            <a:off x="11844473" y="6329788"/>
            <a:ext cx="2327110" cy="657409"/>
          </a:xfrm>
          <a:custGeom>
            <a:avLst/>
            <a:gdLst/>
            <a:ahLst/>
            <a:cxnLst/>
            <a:rect r="r" b="b" t="t" l="l"/>
            <a:pathLst>
              <a:path h="657409" w="2327110">
                <a:moveTo>
                  <a:pt x="0" y="657409"/>
                </a:moveTo>
                <a:lnTo>
                  <a:pt x="2327111" y="657409"/>
                </a:lnTo>
                <a:lnTo>
                  <a:pt x="2327111" y="0"/>
                </a:lnTo>
                <a:lnTo>
                  <a:pt x="0" y="0"/>
                </a:lnTo>
                <a:lnTo>
                  <a:pt x="0" y="6574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1796" y="2715081"/>
            <a:ext cx="11356592" cy="114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</a:pPr>
            <a:r>
              <a:rPr lang="en-US" sz="32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Objectif : </a:t>
            </a:r>
          </a:p>
          <a:p>
            <a:pPr algn="ctr">
              <a:lnSpc>
                <a:spcPts val="4594"/>
              </a:lnSpc>
            </a:pPr>
            <a:r>
              <a:rPr lang="en-US" sz="328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Communication bidirectionnelle fluide &amp; sécurisée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4490" y="614735"/>
            <a:ext cx="11505960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5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INTEGRATION DU PARE-FEU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86867" y="4737224"/>
            <a:ext cx="11356592" cy="137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Protection du réseau contre les accès non-autorisées</a:t>
            </a:r>
          </a:p>
          <a:p>
            <a:pPr algn="ctr">
              <a:lnSpc>
                <a:spcPts val="3614"/>
              </a:lnSpc>
            </a:pPr>
            <a:r>
              <a:rPr lang="en-US" sz="25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Filtrage du Trafic entrant et sortant</a:t>
            </a:r>
          </a:p>
          <a:p>
            <a:pPr algn="ctr">
              <a:lnSpc>
                <a:spcPts val="3614"/>
              </a:lnSpc>
            </a:pPr>
            <a:r>
              <a:rPr lang="en-US" sz="25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Prévention et blocage des intrusions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6831" y="7354370"/>
            <a:ext cx="6251523" cy="50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  <a:spcBef>
                <a:spcPct val="0"/>
              </a:spcBef>
            </a:pPr>
            <a:r>
              <a:rPr lang="en-US" sz="27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Assurer un accès aux sites sécurisé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39180" y="3685294"/>
            <a:ext cx="12081909" cy="2916413"/>
          </a:xfrm>
          <a:custGeom>
            <a:avLst/>
            <a:gdLst/>
            <a:ahLst/>
            <a:cxnLst/>
            <a:rect r="r" b="b" t="t" l="l"/>
            <a:pathLst>
              <a:path h="2916413" w="12081909">
                <a:moveTo>
                  <a:pt x="0" y="0"/>
                </a:moveTo>
                <a:lnTo>
                  <a:pt x="12081909" y="0"/>
                </a:lnTo>
                <a:lnTo>
                  <a:pt x="12081909" y="2916412"/>
                </a:lnTo>
                <a:lnTo>
                  <a:pt x="0" y="2916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36250" y="4187209"/>
            <a:ext cx="10687769" cy="185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4"/>
              </a:lnSpc>
            </a:pPr>
            <a:r>
              <a:rPr lang="en-US" sz="59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SÉCURISATION DU RÉSEAU: </a:t>
            </a:r>
          </a:p>
          <a:p>
            <a:pPr algn="l">
              <a:lnSpc>
                <a:spcPts val="7104"/>
              </a:lnSpc>
            </a:pPr>
            <a:r>
              <a:rPr lang="en-US" b="true" sz="59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INTÉGRATION DU PARE-FEU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8961" y="1028700"/>
            <a:ext cx="6960503" cy="4114800"/>
            <a:chOff x="0" y="0"/>
            <a:chExt cx="2251789" cy="13311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1789" cy="1331177"/>
            </a:xfrm>
            <a:custGeom>
              <a:avLst/>
              <a:gdLst/>
              <a:ahLst/>
              <a:cxnLst/>
              <a:rect r="r" b="b" t="t" l="l"/>
              <a:pathLst>
                <a:path h="1331177" w="2251789">
                  <a:moveTo>
                    <a:pt x="56725" y="0"/>
                  </a:moveTo>
                  <a:lnTo>
                    <a:pt x="2195064" y="0"/>
                  </a:lnTo>
                  <a:cubicBezTo>
                    <a:pt x="2210108" y="0"/>
                    <a:pt x="2224537" y="5976"/>
                    <a:pt x="2235175" y="16615"/>
                  </a:cubicBezTo>
                  <a:cubicBezTo>
                    <a:pt x="2245813" y="27253"/>
                    <a:pt x="2251789" y="41681"/>
                    <a:pt x="2251789" y="56725"/>
                  </a:cubicBezTo>
                  <a:lnTo>
                    <a:pt x="2251789" y="1274452"/>
                  </a:lnTo>
                  <a:cubicBezTo>
                    <a:pt x="2251789" y="1289496"/>
                    <a:pt x="2245813" y="1303924"/>
                    <a:pt x="2235175" y="1314563"/>
                  </a:cubicBezTo>
                  <a:cubicBezTo>
                    <a:pt x="2224537" y="1325201"/>
                    <a:pt x="2210108" y="1331177"/>
                    <a:pt x="2195064" y="1331177"/>
                  </a:cubicBezTo>
                  <a:lnTo>
                    <a:pt x="56725" y="1331177"/>
                  </a:lnTo>
                  <a:cubicBezTo>
                    <a:pt x="41681" y="1331177"/>
                    <a:pt x="27253" y="1325201"/>
                    <a:pt x="16615" y="1314563"/>
                  </a:cubicBezTo>
                  <a:cubicBezTo>
                    <a:pt x="5976" y="1303924"/>
                    <a:pt x="0" y="1289496"/>
                    <a:pt x="0" y="1274452"/>
                  </a:cubicBezTo>
                  <a:lnTo>
                    <a:pt x="0" y="56725"/>
                  </a:lnTo>
                  <a:cubicBezTo>
                    <a:pt x="0" y="41681"/>
                    <a:pt x="5976" y="27253"/>
                    <a:pt x="16615" y="16615"/>
                  </a:cubicBezTo>
                  <a:cubicBezTo>
                    <a:pt x="27253" y="5976"/>
                    <a:pt x="41681" y="0"/>
                    <a:pt x="56725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251789" cy="13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39799" y="3320504"/>
            <a:ext cx="8694355" cy="5709333"/>
          </a:xfrm>
          <a:custGeom>
            <a:avLst/>
            <a:gdLst/>
            <a:ahLst/>
            <a:cxnLst/>
            <a:rect r="r" b="b" t="t" l="l"/>
            <a:pathLst>
              <a:path h="5709333" w="8694355">
                <a:moveTo>
                  <a:pt x="0" y="0"/>
                </a:moveTo>
                <a:lnTo>
                  <a:pt x="8694355" y="0"/>
                </a:lnTo>
                <a:lnTo>
                  <a:pt x="8694355" y="5709333"/>
                </a:lnTo>
                <a:lnTo>
                  <a:pt x="0" y="5709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418" r="0" b="-2786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8961" y="300480"/>
            <a:ext cx="4851312" cy="48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INTÉGRATION DU PARE-FEU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029" y="1452638"/>
            <a:ext cx="7894603" cy="296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Configurer notre pare-feu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2.1. Configuration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2.2. Les règles du pare-feu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2.3. Lien vers l’extérieur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8961" y="1245726"/>
            <a:ext cx="6960503" cy="2579256"/>
            <a:chOff x="0" y="0"/>
            <a:chExt cx="2251789" cy="834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1789" cy="834414"/>
            </a:xfrm>
            <a:custGeom>
              <a:avLst/>
              <a:gdLst/>
              <a:ahLst/>
              <a:cxnLst/>
              <a:rect r="r" b="b" t="t" l="l"/>
              <a:pathLst>
                <a:path h="834414" w="2251789">
                  <a:moveTo>
                    <a:pt x="56725" y="0"/>
                  </a:moveTo>
                  <a:lnTo>
                    <a:pt x="2195064" y="0"/>
                  </a:lnTo>
                  <a:cubicBezTo>
                    <a:pt x="2210108" y="0"/>
                    <a:pt x="2224537" y="5976"/>
                    <a:pt x="2235175" y="16615"/>
                  </a:cubicBezTo>
                  <a:cubicBezTo>
                    <a:pt x="2245813" y="27253"/>
                    <a:pt x="2251789" y="41681"/>
                    <a:pt x="2251789" y="56725"/>
                  </a:cubicBezTo>
                  <a:lnTo>
                    <a:pt x="2251789" y="777689"/>
                  </a:lnTo>
                  <a:cubicBezTo>
                    <a:pt x="2251789" y="792733"/>
                    <a:pt x="2245813" y="807161"/>
                    <a:pt x="2235175" y="817800"/>
                  </a:cubicBezTo>
                  <a:cubicBezTo>
                    <a:pt x="2224537" y="828438"/>
                    <a:pt x="2210108" y="834414"/>
                    <a:pt x="2195064" y="834414"/>
                  </a:cubicBezTo>
                  <a:lnTo>
                    <a:pt x="56725" y="834414"/>
                  </a:lnTo>
                  <a:cubicBezTo>
                    <a:pt x="41681" y="834414"/>
                    <a:pt x="27253" y="828438"/>
                    <a:pt x="16615" y="817800"/>
                  </a:cubicBezTo>
                  <a:cubicBezTo>
                    <a:pt x="5976" y="807161"/>
                    <a:pt x="0" y="792733"/>
                    <a:pt x="0" y="777689"/>
                  </a:cubicBezTo>
                  <a:lnTo>
                    <a:pt x="0" y="56725"/>
                  </a:lnTo>
                  <a:cubicBezTo>
                    <a:pt x="0" y="41681"/>
                    <a:pt x="5976" y="27253"/>
                    <a:pt x="16615" y="16615"/>
                  </a:cubicBezTo>
                  <a:cubicBezTo>
                    <a:pt x="27253" y="5976"/>
                    <a:pt x="41681" y="0"/>
                    <a:pt x="56725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251789" cy="891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62029" y="1452638"/>
            <a:ext cx="6353715" cy="178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Configurer notre pare-feu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2.1. Configuration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790205" y="2104458"/>
            <a:ext cx="10879123" cy="3039042"/>
          </a:xfrm>
          <a:custGeom>
            <a:avLst/>
            <a:gdLst/>
            <a:ahLst/>
            <a:cxnLst/>
            <a:rect r="r" b="b" t="t" l="l"/>
            <a:pathLst>
              <a:path h="3039042" w="10879123">
                <a:moveTo>
                  <a:pt x="0" y="0"/>
                </a:moveTo>
                <a:lnTo>
                  <a:pt x="10879123" y="0"/>
                </a:lnTo>
                <a:lnTo>
                  <a:pt x="10879123" y="3039042"/>
                </a:lnTo>
                <a:lnTo>
                  <a:pt x="0" y="3039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2029" y="3477963"/>
            <a:ext cx="5295918" cy="6809037"/>
          </a:xfrm>
          <a:custGeom>
            <a:avLst/>
            <a:gdLst/>
            <a:ahLst/>
            <a:cxnLst/>
            <a:rect r="r" b="b" t="t" l="l"/>
            <a:pathLst>
              <a:path h="6809037" w="5295918">
                <a:moveTo>
                  <a:pt x="0" y="0"/>
                </a:moveTo>
                <a:lnTo>
                  <a:pt x="5295918" y="0"/>
                </a:lnTo>
                <a:lnTo>
                  <a:pt x="5295918" y="6809037"/>
                </a:lnTo>
                <a:lnTo>
                  <a:pt x="0" y="6809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57947" y="6287000"/>
            <a:ext cx="10754366" cy="2444174"/>
          </a:xfrm>
          <a:custGeom>
            <a:avLst/>
            <a:gdLst/>
            <a:ahLst/>
            <a:cxnLst/>
            <a:rect r="r" b="b" t="t" l="l"/>
            <a:pathLst>
              <a:path h="2444174" w="10754366">
                <a:moveTo>
                  <a:pt x="0" y="0"/>
                </a:moveTo>
                <a:lnTo>
                  <a:pt x="10754366" y="0"/>
                </a:lnTo>
                <a:lnTo>
                  <a:pt x="10754366" y="2444175"/>
                </a:lnTo>
                <a:lnTo>
                  <a:pt x="0" y="2444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8961" y="300480"/>
            <a:ext cx="4851312" cy="48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INTÉGRATION DU PARE-FEU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8961" y="1245726"/>
            <a:ext cx="6960503" cy="2579256"/>
            <a:chOff x="0" y="0"/>
            <a:chExt cx="2251789" cy="834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1789" cy="834414"/>
            </a:xfrm>
            <a:custGeom>
              <a:avLst/>
              <a:gdLst/>
              <a:ahLst/>
              <a:cxnLst/>
              <a:rect r="r" b="b" t="t" l="l"/>
              <a:pathLst>
                <a:path h="834414" w="2251789">
                  <a:moveTo>
                    <a:pt x="56725" y="0"/>
                  </a:moveTo>
                  <a:lnTo>
                    <a:pt x="2195064" y="0"/>
                  </a:lnTo>
                  <a:cubicBezTo>
                    <a:pt x="2210108" y="0"/>
                    <a:pt x="2224537" y="5976"/>
                    <a:pt x="2235175" y="16615"/>
                  </a:cubicBezTo>
                  <a:cubicBezTo>
                    <a:pt x="2245813" y="27253"/>
                    <a:pt x="2251789" y="41681"/>
                    <a:pt x="2251789" y="56725"/>
                  </a:cubicBezTo>
                  <a:lnTo>
                    <a:pt x="2251789" y="777689"/>
                  </a:lnTo>
                  <a:cubicBezTo>
                    <a:pt x="2251789" y="792733"/>
                    <a:pt x="2245813" y="807161"/>
                    <a:pt x="2235175" y="817800"/>
                  </a:cubicBezTo>
                  <a:cubicBezTo>
                    <a:pt x="2224537" y="828438"/>
                    <a:pt x="2210108" y="834414"/>
                    <a:pt x="2195064" y="834414"/>
                  </a:cubicBezTo>
                  <a:lnTo>
                    <a:pt x="56725" y="834414"/>
                  </a:lnTo>
                  <a:cubicBezTo>
                    <a:pt x="41681" y="834414"/>
                    <a:pt x="27253" y="828438"/>
                    <a:pt x="16615" y="817800"/>
                  </a:cubicBezTo>
                  <a:cubicBezTo>
                    <a:pt x="5976" y="807161"/>
                    <a:pt x="0" y="792733"/>
                    <a:pt x="0" y="777689"/>
                  </a:cubicBezTo>
                  <a:lnTo>
                    <a:pt x="0" y="56725"/>
                  </a:lnTo>
                  <a:cubicBezTo>
                    <a:pt x="0" y="41681"/>
                    <a:pt x="5976" y="27253"/>
                    <a:pt x="16615" y="16615"/>
                  </a:cubicBezTo>
                  <a:cubicBezTo>
                    <a:pt x="27253" y="5976"/>
                    <a:pt x="41681" y="0"/>
                    <a:pt x="56725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251789" cy="891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368" y="3382242"/>
            <a:ext cx="14631690" cy="6506481"/>
          </a:xfrm>
          <a:custGeom>
            <a:avLst/>
            <a:gdLst/>
            <a:ahLst/>
            <a:cxnLst/>
            <a:rect r="r" b="b" t="t" l="l"/>
            <a:pathLst>
              <a:path h="6506481" w="14631690">
                <a:moveTo>
                  <a:pt x="0" y="0"/>
                </a:moveTo>
                <a:lnTo>
                  <a:pt x="14631690" y="0"/>
                </a:lnTo>
                <a:lnTo>
                  <a:pt x="14631690" y="6506482"/>
                </a:lnTo>
                <a:lnTo>
                  <a:pt x="0" y="650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705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2029" y="1452638"/>
            <a:ext cx="6353715" cy="178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Configurer notre pare-feu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2.2. Les règles du pare-feu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61" y="300480"/>
            <a:ext cx="4851312" cy="48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INTÉGRATION DU PARE-FEU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8961" y="1245726"/>
            <a:ext cx="6960503" cy="2579256"/>
            <a:chOff x="0" y="0"/>
            <a:chExt cx="2251789" cy="834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1789" cy="834414"/>
            </a:xfrm>
            <a:custGeom>
              <a:avLst/>
              <a:gdLst/>
              <a:ahLst/>
              <a:cxnLst/>
              <a:rect r="r" b="b" t="t" l="l"/>
              <a:pathLst>
                <a:path h="834414" w="2251789">
                  <a:moveTo>
                    <a:pt x="56725" y="0"/>
                  </a:moveTo>
                  <a:lnTo>
                    <a:pt x="2195064" y="0"/>
                  </a:lnTo>
                  <a:cubicBezTo>
                    <a:pt x="2210108" y="0"/>
                    <a:pt x="2224537" y="5976"/>
                    <a:pt x="2235175" y="16615"/>
                  </a:cubicBezTo>
                  <a:cubicBezTo>
                    <a:pt x="2245813" y="27253"/>
                    <a:pt x="2251789" y="41681"/>
                    <a:pt x="2251789" y="56725"/>
                  </a:cubicBezTo>
                  <a:lnTo>
                    <a:pt x="2251789" y="777689"/>
                  </a:lnTo>
                  <a:cubicBezTo>
                    <a:pt x="2251789" y="792733"/>
                    <a:pt x="2245813" y="807161"/>
                    <a:pt x="2235175" y="817800"/>
                  </a:cubicBezTo>
                  <a:cubicBezTo>
                    <a:pt x="2224537" y="828438"/>
                    <a:pt x="2210108" y="834414"/>
                    <a:pt x="2195064" y="834414"/>
                  </a:cubicBezTo>
                  <a:lnTo>
                    <a:pt x="56725" y="834414"/>
                  </a:lnTo>
                  <a:cubicBezTo>
                    <a:pt x="41681" y="834414"/>
                    <a:pt x="27253" y="828438"/>
                    <a:pt x="16615" y="817800"/>
                  </a:cubicBezTo>
                  <a:cubicBezTo>
                    <a:pt x="5976" y="807161"/>
                    <a:pt x="0" y="792733"/>
                    <a:pt x="0" y="777689"/>
                  </a:cubicBezTo>
                  <a:lnTo>
                    <a:pt x="0" y="56725"/>
                  </a:lnTo>
                  <a:cubicBezTo>
                    <a:pt x="0" y="41681"/>
                    <a:pt x="5976" y="27253"/>
                    <a:pt x="16615" y="16615"/>
                  </a:cubicBezTo>
                  <a:cubicBezTo>
                    <a:pt x="27253" y="5976"/>
                    <a:pt x="41681" y="0"/>
                    <a:pt x="56725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251789" cy="891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32264" y="4949621"/>
            <a:ext cx="13303905" cy="2484776"/>
          </a:xfrm>
          <a:custGeom>
            <a:avLst/>
            <a:gdLst/>
            <a:ahLst/>
            <a:cxnLst/>
            <a:rect r="r" b="b" t="t" l="l"/>
            <a:pathLst>
              <a:path h="2484776" w="13303905">
                <a:moveTo>
                  <a:pt x="0" y="0"/>
                </a:moveTo>
                <a:lnTo>
                  <a:pt x="13303905" y="0"/>
                </a:lnTo>
                <a:lnTo>
                  <a:pt x="13303905" y="2484776"/>
                </a:lnTo>
                <a:lnTo>
                  <a:pt x="0" y="2484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2029" y="1452638"/>
            <a:ext cx="6353715" cy="178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Configurer notre pare-feu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2.2. Les règles du pare-feu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61" y="300480"/>
            <a:ext cx="4851312" cy="48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INTÉGRATION DU PARE-FEU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8961" y="1245726"/>
            <a:ext cx="6960503" cy="2579256"/>
            <a:chOff x="0" y="0"/>
            <a:chExt cx="2251789" cy="834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1789" cy="834414"/>
            </a:xfrm>
            <a:custGeom>
              <a:avLst/>
              <a:gdLst/>
              <a:ahLst/>
              <a:cxnLst/>
              <a:rect r="r" b="b" t="t" l="l"/>
              <a:pathLst>
                <a:path h="834414" w="2251789">
                  <a:moveTo>
                    <a:pt x="56725" y="0"/>
                  </a:moveTo>
                  <a:lnTo>
                    <a:pt x="2195064" y="0"/>
                  </a:lnTo>
                  <a:cubicBezTo>
                    <a:pt x="2210108" y="0"/>
                    <a:pt x="2224537" y="5976"/>
                    <a:pt x="2235175" y="16615"/>
                  </a:cubicBezTo>
                  <a:cubicBezTo>
                    <a:pt x="2245813" y="27253"/>
                    <a:pt x="2251789" y="41681"/>
                    <a:pt x="2251789" y="56725"/>
                  </a:cubicBezTo>
                  <a:lnTo>
                    <a:pt x="2251789" y="777689"/>
                  </a:lnTo>
                  <a:cubicBezTo>
                    <a:pt x="2251789" y="792733"/>
                    <a:pt x="2245813" y="807161"/>
                    <a:pt x="2235175" y="817800"/>
                  </a:cubicBezTo>
                  <a:cubicBezTo>
                    <a:pt x="2224537" y="828438"/>
                    <a:pt x="2210108" y="834414"/>
                    <a:pt x="2195064" y="834414"/>
                  </a:cubicBezTo>
                  <a:lnTo>
                    <a:pt x="56725" y="834414"/>
                  </a:lnTo>
                  <a:cubicBezTo>
                    <a:pt x="41681" y="834414"/>
                    <a:pt x="27253" y="828438"/>
                    <a:pt x="16615" y="817800"/>
                  </a:cubicBezTo>
                  <a:cubicBezTo>
                    <a:pt x="5976" y="807161"/>
                    <a:pt x="0" y="792733"/>
                    <a:pt x="0" y="777689"/>
                  </a:cubicBezTo>
                  <a:lnTo>
                    <a:pt x="0" y="56725"/>
                  </a:lnTo>
                  <a:cubicBezTo>
                    <a:pt x="0" y="41681"/>
                    <a:pt x="5976" y="27253"/>
                    <a:pt x="16615" y="16615"/>
                  </a:cubicBezTo>
                  <a:cubicBezTo>
                    <a:pt x="27253" y="5976"/>
                    <a:pt x="41681" y="0"/>
                    <a:pt x="56725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251789" cy="891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658104" y="2205540"/>
            <a:ext cx="10450737" cy="7764971"/>
          </a:xfrm>
          <a:custGeom>
            <a:avLst/>
            <a:gdLst/>
            <a:ahLst/>
            <a:cxnLst/>
            <a:rect r="r" b="b" t="t" l="l"/>
            <a:pathLst>
              <a:path h="7764971" w="10450737">
                <a:moveTo>
                  <a:pt x="0" y="0"/>
                </a:moveTo>
                <a:lnTo>
                  <a:pt x="10450738" y="0"/>
                </a:lnTo>
                <a:lnTo>
                  <a:pt x="10450738" y="7764970"/>
                </a:lnTo>
                <a:lnTo>
                  <a:pt x="0" y="7764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2029" y="1452638"/>
            <a:ext cx="6353715" cy="178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35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2. Configurer notre pare-feu</a:t>
            </a:r>
          </a:p>
          <a:p>
            <a:pPr algn="l">
              <a:lnSpc>
                <a:spcPts val="4690"/>
              </a:lnSpc>
            </a:pP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2.3. Test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61" y="300480"/>
            <a:ext cx="4851312" cy="48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INTÉGRATION DU PARE-FEU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28293" y="3619210"/>
            <a:ext cx="15450720" cy="3729599"/>
          </a:xfrm>
          <a:custGeom>
            <a:avLst/>
            <a:gdLst/>
            <a:ahLst/>
            <a:cxnLst/>
            <a:rect r="r" b="b" t="t" l="l"/>
            <a:pathLst>
              <a:path h="3729599" w="15450720">
                <a:moveTo>
                  <a:pt x="0" y="0"/>
                </a:moveTo>
                <a:lnTo>
                  <a:pt x="15450720" y="0"/>
                </a:lnTo>
                <a:lnTo>
                  <a:pt x="15450720" y="3729598"/>
                </a:lnTo>
                <a:lnTo>
                  <a:pt x="0" y="3729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7367" y="3925007"/>
            <a:ext cx="13509709" cy="177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587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DÉPLOIEMENT D’UN SERVICE DE TÉLÉPHONIE MULTI-SITES  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7860" y="5713637"/>
            <a:ext cx="12423977" cy="110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0"/>
              </a:lnSpc>
            </a:pPr>
            <a:r>
              <a:rPr lang="en-US" sz="737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LES ACQUIS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19802" y="3766393"/>
            <a:ext cx="3779639" cy="2109746"/>
            <a:chOff x="0" y="0"/>
            <a:chExt cx="1222749" cy="6825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749" cy="682523"/>
            </a:xfrm>
            <a:custGeom>
              <a:avLst/>
              <a:gdLst/>
              <a:ahLst/>
              <a:cxnLst/>
              <a:rect r="r" b="b" t="t" l="l"/>
              <a:pathLst>
                <a:path h="682523" w="1222749">
                  <a:moveTo>
                    <a:pt x="104464" y="0"/>
                  </a:moveTo>
                  <a:lnTo>
                    <a:pt x="1118285" y="0"/>
                  </a:lnTo>
                  <a:cubicBezTo>
                    <a:pt x="1175979" y="0"/>
                    <a:pt x="1222749" y="46770"/>
                    <a:pt x="1222749" y="104464"/>
                  </a:cubicBezTo>
                  <a:lnTo>
                    <a:pt x="1222749" y="578059"/>
                  </a:lnTo>
                  <a:cubicBezTo>
                    <a:pt x="1222749" y="635753"/>
                    <a:pt x="1175979" y="682523"/>
                    <a:pt x="1118285" y="682523"/>
                  </a:cubicBezTo>
                  <a:lnTo>
                    <a:pt x="104464" y="682523"/>
                  </a:lnTo>
                  <a:cubicBezTo>
                    <a:pt x="76759" y="682523"/>
                    <a:pt x="50188" y="671517"/>
                    <a:pt x="30597" y="651926"/>
                  </a:cubicBezTo>
                  <a:cubicBezTo>
                    <a:pt x="11006" y="632335"/>
                    <a:pt x="0" y="605764"/>
                    <a:pt x="0" y="578059"/>
                  </a:cubicBezTo>
                  <a:lnTo>
                    <a:pt x="0" y="104464"/>
                  </a:lnTo>
                  <a:cubicBezTo>
                    <a:pt x="0" y="46770"/>
                    <a:pt x="46770" y="0"/>
                    <a:pt x="10446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22749" cy="739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19802" y="4119707"/>
            <a:ext cx="3669577" cy="132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2"/>
              </a:lnSpc>
            </a:pPr>
            <a:r>
              <a:rPr lang="en-US" sz="250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Installation et Configuration d’un IPBX ( 3CX 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239" y="1192599"/>
            <a:ext cx="14596145" cy="168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4"/>
              </a:lnSpc>
            </a:pPr>
            <a:r>
              <a:rPr lang="en-US" sz="4845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DÉPLOIEMENT D’UN SERVICE DE TÉLÉPHONIE MULTI-SITES</a:t>
            </a:r>
          </a:p>
          <a:p>
            <a:pPr algn="l">
              <a:lnSpc>
                <a:spcPts val="6784"/>
              </a:lnSpc>
            </a:pPr>
            <a:r>
              <a:rPr lang="en-US" sz="4845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ACQUISITIONS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85716" y="3722486"/>
            <a:ext cx="3520671" cy="2109746"/>
            <a:chOff x="0" y="0"/>
            <a:chExt cx="1138971" cy="682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8971" cy="682523"/>
            </a:xfrm>
            <a:custGeom>
              <a:avLst/>
              <a:gdLst/>
              <a:ahLst/>
              <a:cxnLst/>
              <a:rect r="r" b="b" t="t" l="l"/>
              <a:pathLst>
                <a:path h="682523" w="1138971">
                  <a:moveTo>
                    <a:pt x="112148" y="0"/>
                  </a:moveTo>
                  <a:lnTo>
                    <a:pt x="1026822" y="0"/>
                  </a:lnTo>
                  <a:cubicBezTo>
                    <a:pt x="1056566" y="0"/>
                    <a:pt x="1085091" y="11816"/>
                    <a:pt x="1106123" y="32848"/>
                  </a:cubicBezTo>
                  <a:cubicBezTo>
                    <a:pt x="1127155" y="53879"/>
                    <a:pt x="1138971" y="82405"/>
                    <a:pt x="1138971" y="112148"/>
                  </a:cubicBezTo>
                  <a:lnTo>
                    <a:pt x="1138971" y="570375"/>
                  </a:lnTo>
                  <a:cubicBezTo>
                    <a:pt x="1138971" y="600118"/>
                    <a:pt x="1127155" y="628644"/>
                    <a:pt x="1106123" y="649675"/>
                  </a:cubicBezTo>
                  <a:cubicBezTo>
                    <a:pt x="1085091" y="670707"/>
                    <a:pt x="1056566" y="682523"/>
                    <a:pt x="1026822" y="682523"/>
                  </a:cubicBezTo>
                  <a:lnTo>
                    <a:pt x="112148" y="682523"/>
                  </a:lnTo>
                  <a:cubicBezTo>
                    <a:pt x="82405" y="682523"/>
                    <a:pt x="53879" y="670707"/>
                    <a:pt x="32848" y="649675"/>
                  </a:cubicBezTo>
                  <a:cubicBezTo>
                    <a:pt x="11816" y="628644"/>
                    <a:pt x="0" y="600118"/>
                    <a:pt x="0" y="570375"/>
                  </a:cubicBezTo>
                  <a:lnTo>
                    <a:pt x="0" y="112148"/>
                  </a:lnTo>
                  <a:cubicBezTo>
                    <a:pt x="0" y="82405"/>
                    <a:pt x="11816" y="53879"/>
                    <a:pt x="32848" y="32848"/>
                  </a:cubicBezTo>
                  <a:cubicBezTo>
                    <a:pt x="53879" y="11816"/>
                    <a:pt x="82405" y="0"/>
                    <a:pt x="11214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38971" cy="739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77756" y="4254731"/>
            <a:ext cx="2936591" cy="88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2"/>
              </a:lnSpc>
            </a:pPr>
            <a:r>
              <a:rPr lang="en-US" sz="250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Gestion des Réseaux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219223" y="6492644"/>
            <a:ext cx="3887164" cy="2109746"/>
            <a:chOff x="0" y="0"/>
            <a:chExt cx="1257535" cy="6825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534" cy="682523"/>
            </a:xfrm>
            <a:custGeom>
              <a:avLst/>
              <a:gdLst/>
              <a:ahLst/>
              <a:cxnLst/>
              <a:rect r="r" b="b" t="t" l="l"/>
              <a:pathLst>
                <a:path h="682523" w="1257534">
                  <a:moveTo>
                    <a:pt x="101575" y="0"/>
                  </a:moveTo>
                  <a:lnTo>
                    <a:pt x="1155960" y="0"/>
                  </a:lnTo>
                  <a:cubicBezTo>
                    <a:pt x="1212058" y="0"/>
                    <a:pt x="1257534" y="45477"/>
                    <a:pt x="1257534" y="101575"/>
                  </a:cubicBezTo>
                  <a:lnTo>
                    <a:pt x="1257534" y="580948"/>
                  </a:lnTo>
                  <a:cubicBezTo>
                    <a:pt x="1257534" y="637046"/>
                    <a:pt x="1212058" y="682523"/>
                    <a:pt x="1155960" y="682523"/>
                  </a:cubicBezTo>
                  <a:lnTo>
                    <a:pt x="101575" y="682523"/>
                  </a:lnTo>
                  <a:cubicBezTo>
                    <a:pt x="74636" y="682523"/>
                    <a:pt x="48800" y="671821"/>
                    <a:pt x="29751" y="652772"/>
                  </a:cubicBezTo>
                  <a:cubicBezTo>
                    <a:pt x="10702" y="633723"/>
                    <a:pt x="0" y="607888"/>
                    <a:pt x="0" y="580948"/>
                  </a:cubicBezTo>
                  <a:lnTo>
                    <a:pt x="0" y="101575"/>
                  </a:lnTo>
                  <a:cubicBezTo>
                    <a:pt x="0" y="45477"/>
                    <a:pt x="45477" y="0"/>
                    <a:pt x="101575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57535" cy="739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219223" y="7058798"/>
            <a:ext cx="3669577" cy="88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2"/>
              </a:lnSpc>
            </a:pPr>
            <a:r>
              <a:rPr lang="en-US" sz="250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Interopérabilité des Réseaux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265174" y="6486409"/>
            <a:ext cx="3887164" cy="2109746"/>
            <a:chOff x="0" y="0"/>
            <a:chExt cx="1257535" cy="6825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7534" cy="682523"/>
            </a:xfrm>
            <a:custGeom>
              <a:avLst/>
              <a:gdLst/>
              <a:ahLst/>
              <a:cxnLst/>
              <a:rect r="r" b="b" t="t" l="l"/>
              <a:pathLst>
                <a:path h="682523" w="1257534">
                  <a:moveTo>
                    <a:pt x="101575" y="0"/>
                  </a:moveTo>
                  <a:lnTo>
                    <a:pt x="1155960" y="0"/>
                  </a:lnTo>
                  <a:cubicBezTo>
                    <a:pt x="1212058" y="0"/>
                    <a:pt x="1257534" y="45477"/>
                    <a:pt x="1257534" y="101575"/>
                  </a:cubicBezTo>
                  <a:lnTo>
                    <a:pt x="1257534" y="580948"/>
                  </a:lnTo>
                  <a:cubicBezTo>
                    <a:pt x="1257534" y="637046"/>
                    <a:pt x="1212058" y="682523"/>
                    <a:pt x="1155960" y="682523"/>
                  </a:cubicBezTo>
                  <a:lnTo>
                    <a:pt x="101575" y="682523"/>
                  </a:lnTo>
                  <a:cubicBezTo>
                    <a:pt x="74636" y="682523"/>
                    <a:pt x="48800" y="671821"/>
                    <a:pt x="29751" y="652772"/>
                  </a:cubicBezTo>
                  <a:cubicBezTo>
                    <a:pt x="10702" y="633723"/>
                    <a:pt x="0" y="607888"/>
                    <a:pt x="0" y="580948"/>
                  </a:cubicBezTo>
                  <a:lnTo>
                    <a:pt x="0" y="101575"/>
                  </a:lnTo>
                  <a:cubicBezTo>
                    <a:pt x="0" y="45477"/>
                    <a:pt x="45477" y="0"/>
                    <a:pt x="101575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57535" cy="739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373967" y="7065033"/>
            <a:ext cx="3669577" cy="88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2"/>
              </a:lnSpc>
            </a:pPr>
            <a:r>
              <a:rPr lang="en-US" sz="250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Sécurisation des Réseaux 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9599" y="1028700"/>
            <a:ext cx="17488802" cy="8810237"/>
            <a:chOff x="0" y="0"/>
            <a:chExt cx="5657794" cy="2850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57795" cy="2850196"/>
            </a:xfrm>
            <a:custGeom>
              <a:avLst/>
              <a:gdLst/>
              <a:ahLst/>
              <a:cxnLst/>
              <a:rect r="r" b="b" t="t" l="l"/>
              <a:pathLst>
                <a:path h="2850196" w="5657795">
                  <a:moveTo>
                    <a:pt x="22577" y="0"/>
                  </a:moveTo>
                  <a:lnTo>
                    <a:pt x="5635218" y="0"/>
                  </a:lnTo>
                  <a:cubicBezTo>
                    <a:pt x="5641206" y="0"/>
                    <a:pt x="5646948" y="2379"/>
                    <a:pt x="5651182" y="6613"/>
                  </a:cubicBezTo>
                  <a:cubicBezTo>
                    <a:pt x="5655416" y="10846"/>
                    <a:pt x="5657795" y="16589"/>
                    <a:pt x="5657795" y="22577"/>
                  </a:cubicBezTo>
                  <a:lnTo>
                    <a:pt x="5657795" y="2827619"/>
                  </a:lnTo>
                  <a:cubicBezTo>
                    <a:pt x="5657795" y="2840088"/>
                    <a:pt x="5647687" y="2850196"/>
                    <a:pt x="5635218" y="2850196"/>
                  </a:cubicBezTo>
                  <a:lnTo>
                    <a:pt x="22577" y="2850196"/>
                  </a:lnTo>
                  <a:cubicBezTo>
                    <a:pt x="16589" y="2850196"/>
                    <a:pt x="10846" y="2847817"/>
                    <a:pt x="6613" y="2843583"/>
                  </a:cubicBezTo>
                  <a:cubicBezTo>
                    <a:pt x="2379" y="2839349"/>
                    <a:pt x="0" y="2833607"/>
                    <a:pt x="0" y="2827619"/>
                  </a:cubicBezTo>
                  <a:lnTo>
                    <a:pt x="0" y="22577"/>
                  </a:lnTo>
                  <a:cubicBezTo>
                    <a:pt x="0" y="10108"/>
                    <a:pt x="10108" y="0"/>
                    <a:pt x="22577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657794" cy="290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01157" y="1074508"/>
            <a:ext cx="9085687" cy="11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b="true" sz="6082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71279"/>
            <a:ext cx="15698855" cy="658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753" indent="-324877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Grâce à cette implémentation, nous avons démontré la faisabilité et l’efficacité d’un déploiement téléphonique multi-sites basé sur 3CX. Ce projet nous a permis d’acquérir une maîtrise approfondie des </a:t>
            </a:r>
            <a:r>
              <a:rPr lang="en-US" b="true" sz="3009">
                <a:solidFill>
                  <a:srgbClr val="1E80E6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VoIP, de la gestion des trunks SIP et de la sécurisation des communications via un pare-feu.</a:t>
            </a:r>
          </a:p>
          <a:p>
            <a:pPr algn="l">
              <a:lnSpc>
                <a:spcPts val="4213"/>
              </a:lnSpc>
            </a:pP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En optimisant la configuration et en appliquant les bonnes pratiques en matière de sécurité, nous avons mis en place une solution évolutive et adaptée aux besoins des entreprises cherchant à centraliser leur téléphonie sur plusieurs sites. Ce projet nous ouvre ainsi des perspectives concrètes pour l’intégration et l’administration de solutions VoIP professionnelles.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27645" y="8979740"/>
            <a:ext cx="322778" cy="7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7684" y="2610822"/>
            <a:ext cx="10252632" cy="503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4"/>
              </a:lnSpc>
            </a:pPr>
            <a:r>
              <a:rPr lang="en-US" b="true" sz="170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DAGfoUnRCAQ</dc:identifier>
  <dcterms:modified xsi:type="dcterms:W3CDTF">2011-08-01T06:04:30Z</dcterms:modified>
  <cp:revision>1</cp:revision>
  <dc:title>Présentation du Projet : Déploiement d’un service de téléphonie multi-sites </dc:title>
</cp:coreProperties>
</file>